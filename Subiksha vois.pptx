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40" r:id="rId10"/>
    <p:sldId id="339" r:id="rId11"/>
    <p:sldId id="344" r:id="rId12"/>
    <p:sldId id="341" r:id="rId13"/>
    <p:sldId id="342" r:id="rId14"/>
    <p:sldId id="34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6D7D96-4135-4918-BA22-9449E31BD2C3}">
          <p14:sldIdLst>
            <p14:sldId id="338"/>
            <p14:sldId id="327"/>
            <p14:sldId id="315"/>
            <p14:sldId id="329"/>
            <p14:sldId id="302"/>
            <p14:sldId id="340"/>
            <p14:sldId id="339"/>
            <p14:sldId id="344"/>
            <p14:sldId id="341"/>
            <p14:sldId id="342"/>
            <p14:sldId id="34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7" d="100"/>
          <a:sy n="87" d="100"/>
        </p:scale>
        <p:origin x="432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bi237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8509" y="3583914"/>
            <a:ext cx="5407268" cy="86149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/>
            <a:r>
              <a:rPr lang="en-US" sz="2600" b="0" dirty="0" smtClean="0">
                <a:solidFill>
                  <a:schemeClr val="tx1"/>
                </a:solidFill>
              </a:rPr>
              <a:t>Student </a:t>
            </a:r>
            <a:r>
              <a:rPr lang="en-US" sz="2600" b="0" dirty="0" err="1" smtClean="0">
                <a:solidFill>
                  <a:schemeClr val="tx1"/>
                </a:solidFill>
              </a:rPr>
              <a:t>name:SUBIKSHA</a:t>
            </a:r>
            <a:endParaRPr lang="en-US" sz="2600" b="0" dirty="0" smtClean="0">
              <a:solidFill>
                <a:schemeClr val="tx1"/>
              </a:solidFill>
            </a:endParaRPr>
          </a:p>
          <a:p>
            <a:pPr algn="r"/>
            <a:r>
              <a:rPr lang="en-US" b="0" dirty="0" smtClean="0">
                <a:solidFill>
                  <a:schemeClr val="tx1"/>
                </a:solidFill>
              </a:rPr>
              <a:t/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college </a:t>
            </a:r>
            <a:r>
              <a:rPr lang="en-US" b="0" dirty="0" err="1" smtClean="0">
                <a:solidFill>
                  <a:schemeClr val="tx1"/>
                </a:solidFill>
              </a:rPr>
              <a:t>name:Karpagam</a:t>
            </a:r>
            <a:r>
              <a:rPr lang="en-US" b="0" dirty="0" smtClean="0">
                <a:solidFill>
                  <a:schemeClr val="tx1"/>
                </a:solidFill>
              </a:rPr>
              <a:t> Academy of Higher </a:t>
            </a:r>
            <a:r>
              <a:rPr lang="en-US" b="0" dirty="0" err="1">
                <a:solidFill>
                  <a:schemeClr val="tx1"/>
                </a:solidFill>
              </a:rPr>
              <a:t>E</a:t>
            </a:r>
            <a:r>
              <a:rPr lang="en-US" b="0" dirty="0" err="1" smtClean="0">
                <a:solidFill>
                  <a:schemeClr val="tx1"/>
                </a:solidFill>
              </a:rPr>
              <a:t>duactaion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10" y="2709408"/>
            <a:ext cx="10004290" cy="743448"/>
          </a:xfrm>
        </p:spPr>
        <p:txBody>
          <a:bodyPr>
            <a:noAutofit/>
          </a:bodyPr>
          <a:lstStyle/>
          <a:p>
            <a:r>
              <a:rPr lang="en-GB" sz="2400" dirty="0"/>
              <a:t>Project Title </a:t>
            </a:r>
            <a:r>
              <a:rPr lang="en-GB" sz="2400" dirty="0" smtClean="0"/>
              <a:t>–</a:t>
            </a:r>
            <a:r>
              <a:rPr lang="en-IN" sz="2400" dirty="0"/>
              <a:t>SEASONAL AGRICULTURE PERFORMANCE ANALYSIS</a:t>
            </a:r>
            <a:endParaRPr lang="en-IN" sz="24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904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 smtClean="0"/>
              <a:t>STU681a3467b33691746547815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419992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/>
              <a:t>Agricultural performance varies significantly across different seasons due to changes in rainfall, temperature, soil conditions, water availability, crop selection, and farming </a:t>
            </a:r>
            <a:r>
              <a:rPr lang="en-US" sz="2200" dirty="0" err="1" smtClean="0"/>
              <a:t>practices.However</a:t>
            </a:r>
            <a:r>
              <a:rPr lang="en-US" sz="2200" dirty="0"/>
              <a:t>, it can be difficult to understand which factors have the greatest impact on </a:t>
            </a:r>
            <a:r>
              <a:rPr lang="en-US" sz="2200" b="1" dirty="0"/>
              <a:t>crop yield and farm profitability</a:t>
            </a:r>
            <a:r>
              <a:rPr lang="en-US" sz="2200" dirty="0"/>
              <a:t> when looking at agricultural data across different regions and seasons.</a:t>
            </a:r>
          </a:p>
          <a:p>
            <a:r>
              <a:rPr lang="en-US" sz="2200" dirty="0"/>
              <a:t>This project analyzes agricultural data to:</a:t>
            </a:r>
          </a:p>
          <a:p>
            <a:r>
              <a:rPr lang="en-US" sz="2200" dirty="0"/>
              <a:t>Identify seasonal variations in crop yield and profitability.</a:t>
            </a:r>
          </a:p>
          <a:p>
            <a:r>
              <a:rPr lang="en-US" sz="2200" dirty="0"/>
              <a:t>Understand relationships between environmental and farming factors.</a:t>
            </a:r>
          </a:p>
          <a:p>
            <a:r>
              <a:rPr lang="en-US" sz="2200" dirty="0"/>
              <a:t>Compare crop, season, and regional performance.</a:t>
            </a:r>
          </a:p>
          <a:p>
            <a:r>
              <a:rPr lang="en-US" sz="2200" dirty="0"/>
              <a:t>Identify important patterns, trends, and unusual observations.</a:t>
            </a:r>
          </a:p>
          <a:p>
            <a:r>
              <a:rPr lang="en-US" sz="2200" dirty="0"/>
              <a:t>Generate data-driven insights and recommendations for improving agricultural performance.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Project Description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Seasonal Agriculture Performance Analysis</a:t>
            </a:r>
            <a:r>
              <a:rPr lang="en-US" dirty="0"/>
              <a:t> is a data analysis project that examines agricultural performance across different </a:t>
            </a:r>
            <a:r>
              <a:rPr lang="en-US" b="1" dirty="0"/>
              <a:t>seasons, crops, and regions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project uses agricultural data containing information about </a:t>
            </a:r>
            <a:r>
              <a:rPr lang="en-US" b="1" dirty="0"/>
              <a:t>weather conditions, soil characteristics, farming practices, crop yield, production, costs, revenue, profit, and water usage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analysis involves:</a:t>
            </a:r>
          </a:p>
          <a:p>
            <a:r>
              <a:rPr lang="en-US" dirty="0"/>
              <a:t>Cleaning and preparing the agricultural dataset.</a:t>
            </a:r>
          </a:p>
          <a:p>
            <a:r>
              <a:rPr lang="en-US" dirty="0"/>
              <a:t>Exploring seasonal, crop, and regional performance.</a:t>
            </a:r>
          </a:p>
          <a:p>
            <a:r>
              <a:rPr lang="en-US" dirty="0"/>
              <a:t>Analyzing relationships between environmental factors and crop yield.</a:t>
            </a:r>
          </a:p>
          <a:p>
            <a:r>
              <a:rPr lang="en-US" dirty="0"/>
              <a:t>Comparing agricultural profitability across seasons, crops, and states.</a:t>
            </a:r>
          </a:p>
          <a:p>
            <a:r>
              <a:rPr lang="en-US" dirty="0"/>
              <a:t>Identifying important patterns, trends, and unusual observations.</a:t>
            </a:r>
          </a:p>
          <a:p>
            <a:r>
              <a:rPr lang="en-US" dirty="0"/>
              <a:t>Using data-driven insights to provide recommendations for improving agricultural performance.</a:t>
            </a:r>
          </a:p>
          <a:p>
            <a:r>
              <a:rPr lang="en-US" dirty="0"/>
              <a:t>Applying a </a:t>
            </a:r>
            <a:r>
              <a:rPr lang="en-US" b="1" dirty="0"/>
              <a:t>Random Forest regression model</a:t>
            </a:r>
            <a:r>
              <a:rPr lang="en-US" dirty="0"/>
              <a:t> to explore yield prediction.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 smtClean="0"/>
              <a:t>Farmers</a:t>
            </a:r>
            <a:endParaRPr lang="en-US" sz="3600" b="1" dirty="0"/>
          </a:p>
          <a:p>
            <a:r>
              <a:rPr lang="en-US" sz="3600" dirty="0"/>
              <a:t>Use seasonal yield, rainfall, soil, water, and profitability insights to make better crop and farming decisions.</a:t>
            </a:r>
          </a:p>
          <a:p>
            <a:pPr marL="0" indent="0">
              <a:buNone/>
            </a:pPr>
            <a:r>
              <a:rPr lang="en-US" sz="3600" b="1" dirty="0" smtClean="0"/>
              <a:t>Agricultural </a:t>
            </a:r>
            <a:r>
              <a:rPr lang="en-US" sz="3600" b="1" dirty="0"/>
              <a:t>Departments &amp; Government Agencies</a:t>
            </a:r>
          </a:p>
          <a:p>
            <a:r>
              <a:rPr lang="en-US" sz="3600" dirty="0"/>
              <a:t>Use regional and seasonal performance patterns to support agricultural planning, resource allocation, and policy decisions.</a:t>
            </a:r>
          </a:p>
          <a:p>
            <a:pPr marL="0" indent="0">
              <a:buNone/>
            </a:pPr>
            <a:r>
              <a:rPr lang="en-US" sz="3600" b="1" dirty="0" smtClean="0"/>
              <a:t> </a:t>
            </a:r>
            <a:r>
              <a:rPr lang="en-US" sz="3600" b="1" dirty="0"/>
              <a:t>Agribusiness &amp; Agricultural Planners</a:t>
            </a:r>
          </a:p>
          <a:p>
            <a:r>
              <a:rPr lang="en-US" sz="3600" dirty="0"/>
              <a:t>Use crop, cost, revenue, and profit analysis to identify better-performing crops, seasons, and farming opportunities.</a:t>
            </a:r>
          </a:p>
          <a:p>
            <a:pPr marL="0" indent="0">
              <a:buNone/>
            </a:pPr>
            <a:r>
              <a:rPr lang="en-US" sz="3600" b="1" dirty="0" smtClean="0"/>
              <a:t> </a:t>
            </a:r>
            <a:r>
              <a:rPr lang="en-US" sz="3600" b="1" dirty="0"/>
              <a:t>Agricultural Researchers &amp; Analysts</a:t>
            </a:r>
          </a:p>
          <a:p>
            <a:r>
              <a:rPr lang="en-US" sz="3600" dirty="0"/>
              <a:t>Use the analyzed data and identified relationships to study agricultural trends and support further research.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32560"/>
            <a:ext cx="7640320" cy="5243448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 smtClean="0"/>
              <a:t> Python -</a:t>
            </a:r>
            <a:r>
              <a:rPr lang="en-IN" dirty="0" smtClean="0"/>
              <a:t>Core </a:t>
            </a:r>
            <a:r>
              <a:rPr lang="en-IN" dirty="0"/>
              <a:t>programming language used for data analysis and machine learning.</a:t>
            </a:r>
          </a:p>
          <a:p>
            <a:r>
              <a:rPr lang="en-IN" b="1" dirty="0" smtClean="0"/>
              <a:t>Pandas -</a:t>
            </a:r>
            <a:r>
              <a:rPr lang="en-IN" dirty="0" smtClean="0"/>
              <a:t>Used </a:t>
            </a:r>
            <a:r>
              <a:rPr lang="en-IN" dirty="0"/>
              <a:t>for data loading, cleaning, transformation, grouping, and analysis.</a:t>
            </a:r>
          </a:p>
          <a:p>
            <a:r>
              <a:rPr lang="en-IN" b="1" dirty="0" smtClean="0"/>
              <a:t> </a:t>
            </a:r>
            <a:r>
              <a:rPr lang="en-IN" b="1" dirty="0" err="1" smtClean="0"/>
              <a:t>NumPy</a:t>
            </a:r>
            <a:r>
              <a:rPr lang="en-IN" b="1" dirty="0" smtClean="0"/>
              <a:t>-</a:t>
            </a:r>
            <a:r>
              <a:rPr lang="en-IN" dirty="0" smtClean="0"/>
              <a:t>Used </a:t>
            </a:r>
            <a:r>
              <a:rPr lang="en-IN" dirty="0"/>
              <a:t>for numerical operations and data processing.</a:t>
            </a:r>
          </a:p>
          <a:p>
            <a:r>
              <a:rPr lang="en-IN" b="1" dirty="0" err="1" smtClean="0"/>
              <a:t>Matplotlib</a:t>
            </a:r>
            <a:r>
              <a:rPr lang="en-IN" b="1" dirty="0" smtClean="0"/>
              <a:t>-</a:t>
            </a:r>
            <a:r>
              <a:rPr lang="en-IN" dirty="0" smtClean="0"/>
              <a:t>Used </a:t>
            </a:r>
            <a:r>
              <a:rPr lang="en-IN" dirty="0"/>
              <a:t>to create charts and visualizations.</a:t>
            </a:r>
          </a:p>
          <a:p>
            <a:r>
              <a:rPr lang="en-IN" b="1" dirty="0" err="1" smtClean="0"/>
              <a:t>Seaborn</a:t>
            </a:r>
            <a:r>
              <a:rPr lang="en-IN" b="1" dirty="0" smtClean="0"/>
              <a:t>-</a:t>
            </a:r>
            <a:r>
              <a:rPr lang="en-IN" dirty="0" smtClean="0"/>
              <a:t>Used </a:t>
            </a:r>
            <a:r>
              <a:rPr lang="en-IN" dirty="0"/>
              <a:t>for statistical visualizations such as </a:t>
            </a:r>
            <a:r>
              <a:rPr lang="en-IN" dirty="0" err="1"/>
              <a:t>heatmaps</a:t>
            </a:r>
            <a:r>
              <a:rPr lang="en-IN" dirty="0"/>
              <a:t> and comparison plots.</a:t>
            </a:r>
          </a:p>
          <a:p>
            <a:r>
              <a:rPr lang="en-IN" b="1" dirty="0" err="1" smtClean="0"/>
              <a:t>Scikit</a:t>
            </a:r>
            <a:r>
              <a:rPr lang="en-IN" b="1" dirty="0" smtClean="0"/>
              <a:t>-learn-</a:t>
            </a:r>
            <a:r>
              <a:rPr lang="en-IN" dirty="0" smtClean="0"/>
              <a:t>Used </a:t>
            </a:r>
            <a:r>
              <a:rPr lang="en-IN" dirty="0"/>
              <a:t>for </a:t>
            </a:r>
            <a:r>
              <a:rPr lang="en-IN" dirty="0" err="1"/>
              <a:t>preprocessing</a:t>
            </a:r>
            <a:r>
              <a:rPr lang="en-IN" dirty="0"/>
              <a:t>, train-test splitting, and the Random Forest regression model.</a:t>
            </a:r>
          </a:p>
          <a:p>
            <a:r>
              <a:rPr lang="en-IN" b="1" dirty="0" smtClean="0"/>
              <a:t>Google </a:t>
            </a:r>
            <a:r>
              <a:rPr lang="en-IN" b="1" dirty="0" err="1"/>
              <a:t>Colab</a:t>
            </a:r>
            <a:r>
              <a:rPr lang="en-IN" b="1" dirty="0"/>
              <a:t> / </a:t>
            </a:r>
            <a:r>
              <a:rPr lang="en-IN" b="1" dirty="0" err="1"/>
              <a:t>Jupyter</a:t>
            </a:r>
            <a:r>
              <a:rPr lang="en-IN" b="1" dirty="0"/>
              <a:t> </a:t>
            </a:r>
            <a:r>
              <a:rPr lang="en-IN" b="1" dirty="0" smtClean="0"/>
              <a:t>Notebook-</a:t>
            </a:r>
            <a:r>
              <a:rPr lang="en-IN" dirty="0" smtClean="0"/>
              <a:t>Environment </a:t>
            </a:r>
            <a:r>
              <a:rPr lang="en-IN" dirty="0"/>
              <a:t>used to develop and execute the project.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27" y="1431692"/>
            <a:ext cx="4564070" cy="3168753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806450" y="1821670"/>
            <a:ext cx="40991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Kharif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Highest total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Rabi: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Moderate total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Zaid: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Lowest total profit / overall loss 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AutoShape 2" descr="data:image/png;base64,iVBORw0KGgoAAAANSUhEUgAAAlgAAAHWCAYAAACrNPfpAAAAOnRFWHRTb2Z0d2FyZQBNYXRwbG90bGliIHZlcnNpb24zLjEwLjAsIGh0dHBzOi8vbWF0cGxvdGxpYi5vcmcvlHJYcgAAAAlwSFlzAAAPYQAAD2EBqD+naQAAP6lJREFUeJzt3XmcjfX///HnMTPObAyDMSNjHdnpQ9ZkKRlLhr6WUhhLqIRC+Yw+NWixfLKFEEppPnaVyL4vlS2SIskWY41ZGDPMvH9/dHN+nWbSHK5xHB732+3cbq739b6u63VOx3j2vt7Xe2zGGCMAAABYJpe7CwAAALjbELAAAAAsRsACAACwGAELAADAYgQsAAAAixGwAAAALEbAAgAAsBgBCwAAwGIELAAAAIsRsAB4lJkzZ8pms+nIkSMuHztkyBDZbLZs9bXZbBoyZMgN+6xfv142m00LFixwuRYAdzcCFnCbvf/++7LZbKpVq5a7S7ljfP3118qVK5diYmKy3D9y5EjZbDYtXbr0Nld259i8ebOaNWum++67T76+vipWrJhatmyp//3vf+4uDUAWCFjAbRYXF6cSJUpo27Zt+uWXX9xdzh2hTp066tWrl0aPHq19+/Y57Tt69KiGDRumdu3aqUWLFurUqZNSUlJUvHhxN1V7+82fP1/169fX6dOn1a9fP02YMEEdO3bUhQsXNG3aNHeXByAL3u4uALiXHD58WFu3btWiRYvUq1cvxcXFKTY29rbWkJGRobS0NPn6+t7W6/6TESNG6IsvvlCvXr20adMmx628Pn36yMfHR+PHj5ckeXl5ycvLy52l3nZDhgxRhQoV9M033yh37txO+86cOeOmqgDcCCNYwG0UFxen/Pnzq0WLFmrbtq3i4uIc+65evarg4GB17do103GJiYny9fXVwIEDHW2pqamKjY1VRESE7Ha7wsPD9eqrryo1NdXpWJvNphdffFFxcXGqWLGi7Ha7li9fLkl69913VbduXRUoUEB+fn6qXr16lvOJUlJS1LdvXxUsWFB58uRRVFSUTpw4keU8pRMnTqhbt24qXLiw7Ha7KlasqA8//PAfP5ugoCCNHz9eW7Zs0fTp0yVJn332mb788kuNGDFCYWFhkv5+DtayZcv08MMPKyAgQHny5FGLFi0yjYZlJTU1VS+//LIKFSrkeG+//fbbPx73Z+np6Ro8eLBCQ0MVEBCgqKgoHT9+3LE/NjZWPj4+Onv2bKZje/bsqXz58unKlSt/e/5Dhw6pRo0amcKVJIWEhDhtZ2RkaNy4capYsaJ8fX1VuHBh9erVSxcuXHDq98UXX6hFixYqUqSI7Ha7SpcurTfffFPp6elO/Q4ePKg2bdooNDRUvr6+Klq0qJ566iklJCQ4+ly7dk1vvvmmSpcuLbvdrhIlSmjw4MGZvoslSpTQ448/rs2bN6tmzZry9fVVqVKl9Mknn/ztewc8lgFw25QrV850797dGGPMxo0bjSSzbds2x/5u3bqZfPnymdTUVKfjPv74YyPJbN++3RhjTHp6umnSpInx9/c3L730kpk6dap58cUXjbe3t2nVqpXTsZJM+fLlTaFChczQoUPNpEmTzHfffWeMMaZo0aLmhRdeMBMnTjRjxowxNWvWNJLMkiVLnM7Rvn17I8l06tTJTJo0ybRv395UrVrVSDKxsbGOfqdOnTJFixY14eHhZtiwYWby5MkmKirKSDJjx47N1mfUokULkz9/fnPo0CETHh5u6tatazIyMhz7P/roIyPJHD582NH2ySefGJvNZpo2bWomTJhgRo4caUqUKGHy5cvn1C82Ntb89cdex44djSTz9NNPm4kTJ5r/+7//M1WqVMn03rKybt06I8lUrlzZVKlSxYwZM8b8+9//Nr6+vub+++83ly9fNsYYc/DgQSPJTJgwwen41NRUkz9/ftOtW7cbXuf+++834eHh5vjx4zfsZ4wxzz77rPH29jY9evQwU6ZMMYMGDTIBAQGmRo0aJi0tzdGvdevWpn379ua///2vmTx5smnXrp2RZAYOHOhUX8mSJU2RIkXMW2+9ZaZPn26GDh1qatSoYY4cOeLoFx0dbSSZtm3bmkmTJpnOnTsbSaZ169ZOtRUvXtyULVvWFC5c2AwePNhMnDjRVKtWzdhsNvPDDz/843sDPAkBC7hNduzYYSSZVatWGWOMycjIMEWLFjX9+vVz9FmxYoWRZL788kunY5s3b25KlSrl2J41a5bJlSuX2bRpk1O/KVOmGElmy5YtjjZJJleuXGbfvn2ZaroeAK5LS0szlSpVMo888oijbefOnUaSeemll5z6dunSJVMI6d69uwkLCzPnzp1z6vvUU0+ZoKCgTNfLypEjR0xAQIAJDg42Pj4+Zu/evU77/xqwkpKSTL58+UyPHj2c+p06dcoEBQU5tf81YO3evdtIMi+88ILTsU8//bRLAeu+++4ziYmJjvZ58+YZSWb8+PGOtjp16phatWo5Hb9o0SIjyaxbt+6G15kxY4aRZHLnzm0aNWpkXn/9dbNp0yaTnp7u1G/Tpk1GkomLi3NqX758eab2rP5b9OrVy/j7+5srV64YY4z57rvvjCQzf/78v63t+mf47LPPOrUPHDjQSDJr1651tBUvXtxIMhs3bnS0nTlzxtjtdjNgwIAbfgaAp+EWIXCbxMXFqXDhwmrUqJGkP27dPfnkk5ozZ47jtswjjzyiggULau7cuY7jLly4oFWrVunJJ590tM2fP1/ly5dXuXLldO7cOcfrkUcekSStW7fO6doNGjRQhQoVMtXk5+fndJ2EhAQ9/PDD2rVrl6P9+u3EF154wenYPn36OG0bY7Rw4UK1bNlSxhinuiIjI5WQkOB03r9TvHhxxcbG6vfff1f//v1VqVKlG/ZftWqVLl68qA4dOjhd08vLS7Vq1cr0WfzZV199JUnq27evU/tLL730j3X+WefOnZUnTx7Hdtu2bRUWFuY4//U+3377rQ4dOuRoi4uLU3h4uBo0aHDD83fr1k3Lly9Xw4YNtXnzZr355pt6+OGHVaZMGW3dutXRb/78+QoKCtJjjz3m9FlUr15dgYGBTp/Fn//bJyUl6dy5c3r44Yd1+fJl7d+/X9Ift20lacWKFbp8+XKWtV1/j/3793dqHzBggCRlevKzQoUKevjhhx3bhQoVUtmyZfXrr7/e8DMAPA0BC7gN0tPTNWfOHDVq1EiHDx/WL7/8ol9++UW1atXS6dOntWbNGkmSt7e32rRpoy+++MIxf2XRokW6evWqU8A6ePCg9u3bp0KFCjm97r//fkmZJz6XLFkyy7qWLFmi2rVry9fXV8HBwSpUqJAmT57sNL/m6NGjypUrV6ZzREREOG2fPXtWFy9e1AcffJCpruvzyrI7IbtGjRqSpAcffPAf+x48eFDSH+H0r9dduXLlDa95/b2VLl3aqb1s2bLZqvO6MmXKOG3bbDZFREQ4zRN78sknZbfbHfPuEhIStGTJEj3zzDPZWpsrMjJSK1as0MWLF7Vx40b17t1bR48e1eOPP+54jwcPHlRCQoJCQkIyfRbJyclOn8W+ffv0xBNPKCgoSHnz5lWhQoXUsWNHR23SH9+b/v37a/r06SpYsKAiIyM1adKkLL8ff/0+hIaGKl++fDp69KhTe7FixTK9t/z582eaIwZ4Op4iBG6DtWvXKj4+XnPmzNGcOXMy7Y+Li1OTJk0kSU899ZSmTp2qZcuWqXXr1po3b57KlSunqlWrOvpnZGSocuXKGjNmTJbXCw8Pd9r+82jFdZs2bVJUVJTq16+v999/X2FhYfLx8dFHH310U2srZWRkSJI6duyo6OjoLPtUqVLF5fNm97qzZs1SaGhopv3e3nfGj7n8+fPr8ccfV1xcnN544w0tWLBAqampjlCTXf7+/nr44Yf18MMPq2DBgho6dKiWLVum6OhoZWRkKCQkxOnhiT8rVKiQJOnixYtq0KCB8ubNq2HDhql06dLy9fXVrl27NGjQIMdnKkmjR49Wly5d9MUXX2jlypXq27evhg8frm+++UZFixZ19MvuAq5/9wSoMSa7HwHgEe6MnzzAXS4uLk4hISGaNGlSpn2LFi3SZ599pilTpsjPz0/169dXWFiY5s6dq3r16mnt2rV67bXXnI4pXbq09uzZo0cffTTb/7D91cKFC+Xr66sVK1bIbrc72j/66COnfsWLF1dGRoYOHz7sNFLz1zW8rj+Fl56ersaNG99UTTfj+uhTSEiIy9e9/t4OHTrkNGp14MABl85zfRTtOmOMfvnll0yBsnPnzmrVqpW2b9+uuLg4/etf/1LFihVdutafXR/hi4+Pl/THZ7F69Wo99NBDWYbq69avX6/z589r0aJFql+/vqP98OHDWfavXLmyKleurP/85z/aunWrHnroIU2ZMkVvvfWW4zM8ePCgypcv7zjm9OnTunjx4j21XhnwZ9wiBHJYSkqKFi1apMcff1xt27bN9HrxxReVlJSkxYsXS5Jy5cqltm3b6ssvv9SsWbN07do1p9uDktS+fXudOHEiy0UmU1JSdOnSpX+sy8vLSzabzemx/CNHjujzzz936hcZGSnpjxXo/2zChAmZztemTRstXLhQP/zwQ6brZbVEgRUiIyOVN29evfPOO7p69apL123WrJkk6b333nNqHzdunEs1fPLJJ0pKSnJsL1iwQPHx8Y7z//l6BQsW1MiRI7Vhw4Zsj15dv4X8V9fnP10Ph+3bt1d6errefPPNTH2vXbumixcvSvr/o0h/HjVKS0vL9N84MTFR165dc2qrXLmycuXK5biF3bx5c0mZP7Pro6stWrT4x/cH3I0YwQJy2OLFi5WUlKSoqKgs99euXVuFChVSXFycI0g9+eSTmjBhgmJjY1W5cmWnkQFJ6tSpk+bNm6fnnntO69at00MPPaT09HTt379f8+bN04oVK/5x/lKLFi00ZswYNW3aVE8//bTOnDmjSZMmKSIiQt9//72jX/Xq1dWmTRuNGzdO58+fV+3atbVhwwb9/PPPkpxvDY0YMULr1q1TrVq11KNHD1WoUEG///67du3apdWrV+v333+/qc/wRvLmzavJkyerU6dOqlatmp566ikVKlRIx44d09KlS/XQQw9p4sSJWR77wAMPqEOHDnr//feVkJCgunXras2aNS6vsB8cHKx69eqpa9euOn36tMaNG6eIiAj16NHDqZ+Pj4+eeuopTZw4UV5eXurQoUO2zt+qVSuVLFlSLVu2VOnSpXXp0iWtXr1aX375pWrUqKGWLVtK+uNhhl69emn48OHavXu3mjRpIh8fHx08eFDz58/X+PHj1bZtW9WtW1f58+dXdHS0+vbtK5vNplmzZmW6Tbd27Vq9+OKLateune6//35du3ZNs2bNcoRpSapataqio6P1wQcfOG49btu2TR9//LFat27teKgDuOe48xFG4F7QsmVL4+vray5duvS3fbp06WJ8fHwcyxtkZGSY8PBwI8m89dZbWR6TlpZmRo4caSpWrGjsdrvJnz+/qV69uhk6dKhJSEhw9JNkevfuneU5ZsyYYcqUKWPsdrspV66c+eijj7JcK+rSpUumd+/eJjg42AQGBprWrVubAwcOGElmxIgRTn1Pnz5tevfubcLDw42Pj48JDQ01jz76qPnggw+y9XkZ8/+XP8hqeYCs1sG6fkxkZKQJCgoyvr6+pnTp0qZLly5mx44djj5ZvbeUlBTTt29fU6BAARMQEGBatmxpjh8/7tIyDbNnzzYxMTEmJCTE+Pn5mRYtWpijR49mecy2bduMJNOkSZPsfRjGmNmzZ5unnnrKlC5d2vj5+RlfX19ToUIF89prrzktD3HdBx98YKpXr278/PxMnjx5TOXKlc2rr75qTp486eizZcsWU7t2bePn52eKFCliXn31VccyIdeXjfj1119Nt27dTOnSpY2vr68JDg42jRo1MqtXr3a63tWrV83QoUNNyZIljY+PjwkPDzcxMTGO5R6uK168uGnRokWmehs0aGAaNGiQ7c8D8AQ2Y5hZCMB1u3fv1r/+9S99+umneuaZZ9xdjsfYs2ePHnjgAX3yySfq1KmTu8sBkEOYgwXgH6WkpGRqGzdunHLlyuU0SRr/bNq0aQoMDNT//d//ubsUADmIOVgA/tGoUaO0c+dONWrUSN7e3lq2bJmWLVumnj17ZloSAln78ssv9eOPP+qDDz7Qiy++qICAAHeXBCAHcYsQwD9atWqVhg4dqh9//FHJyckqVqyYOnXqpNdee+2OWWfqTleiRAmdPn1akZGRmjVrltPK7wDuPgQsAAAAizEHCwAAwGIELAAAAIt59OSJjIwMnTx5Unny5LnpXxcCAACQXcYYJSUlqUiRIsqV6+/HqTw6YJ08eZInmAAAwG13/Phxp194/lceHbCuP4Vz/Phx5c2b183VAACAu11iYqLCw8P/8Ulgjw5Y128L5s2bl4AFAABum3+amsQkdwAAAIsRsAAAACxGwAIAALAYAQsAAMBiBCwAAACLEbAAAAAsRsACAACwGAELAADAYgQsAAAAixGwAAAALEbAAgAAsBgBCwAAwGIELAAAAIsRsAAAACxGwAIAALCYt7sLuBeV+PdSd5dwzzgyooW7SwAA3IMYwQIAALAYAQsAAMBiBCwAAACLEbAAAAAsRsACAACwGAELAADAYgQsAAAAixGwAAAALEbAAgAAsBgBCwAAwGIELAAAAIsRsAAAACxGwAIAALAYAQsAAMBiBCwAAACLEbAAAAAsRsACAACwGAELAADAYgQsAAAAixGwAAAALEbAAgAAsBgBCwAAwGIELAAAAIsRsAAAACxGwAIAALAYAQsAAMBiBCwAAACLEbAAAAAsRsACAACwGAELAADAYgQsAAAAixGwAAAALEbAAgAAsBgBCwAAwGIELAAAAIsRsAAAACzm1oA1ZMgQ2Ww2p1e5cuXcWRIAAMAt83Z3ARUrVtTq1asd297ebi8JgItK/Hupu0u4ZxwZ0cLdJQDIBrenGW9vb4WGhrq7DAAAAMu4fQ7WwYMHVaRIEZUqVUrPPPOMjh079rd9U1NTlZiY6PQCAAC407g1YNWqVUszZ87U8uXLNXnyZB0+fFgPP/ywkpKSsuw/fPhwBQUFOV7h4eG3uWIAAIB/5taA1axZM7Vr105VqlRRZGSkvvrqK128eFHz5s3Lsn9MTIwSEhIcr+PHj9/migEAAP6Z2+dg/Vm+fPl0//3365dffslyv91ul91uv81VAQAAuMbtc7D+LDk5WYcOHVJYWJi7SwEAALhpbg1YAwcO1IYNG3TkyBFt3bpVTzzxhLy8vNShQwd3lgUAAHBL3HqL8LffflOHDh10/vx5FSpUSPXq1dM333yjQoUKubMsAACAW+LWgDVnzhx3Xh4AACBH3FFzsAAAAO4GBCwAAACLEbAAAAAsRsACAACwGAELAADAYgQsAAAAixGwAAAALEbAAgAAsBgBCwAAwGIELAAAAIsRsAAAACxGwAIAALAYAQsAAMBiBCwAAACLEbAAAAAsRsACAACwmLe7CwAA4E5T4t9L3V3CPeHIiBbuLiHHMIIFAABgMQIWAACAxQhYAAAAFiNgAQAAWIyABQAAYDECFgAAgMUIWAAAABYjYAEAAFiMgAUAAGAxAhYAAIDFCFgAAAAWI2ABAABYjIAFAABgMQIWAACAxQhYAAAAFiNgAQAAWIyABQAAYDECFgAAgMUIWAAAABYjYAEAAFjslgJWamqqVXUAAADcNVwKWMuWLVN0dLRKlSolHx8f+fv7K2/evGrQoIHefvttnTx5MqfqBAAA8BjZClifffaZ7r//fnXr1k3e3t4aNGiQFi1apBUrVmj69Olq0KCBVq9erVKlSum5557T2bNnc7puAACAO5Z3djqNGjVKY8eOVbNmzZQrV+ZM1r59e0nSiRMnNGHCBH366ad6+eWXra0UAADAQ2QrYH399dfZOtl9992nESNG3FJBAAAAno6nCAEAACyWrRGsv/rtt9+0ePFiHTt2TGlpaU77xowZY0lhAAAAnsrlgLVmzRpFRUWpVKlS2r9/vypVqqQjR47IGKNq1arlRI0AAAAexeVbhDExMRo4cKD27t0rX19fLVy4UMePH1eDBg3Url27nKgRAADAo7gcsH766Sd17txZkuTt7a2UlBQFBgZq2LBhGjlypOUFAgAAeBqXA1ZAQIBj3lVYWJgOHTrk2Hfu3DnrKgMAAPBQLs/Bql27tjZv3qzy5curefPmGjBggPbu3atFixapdu3aOVEjAACAR3E5YI0ZM0bJycmSpKFDhyo5OVlz585VmTJleIIQAABANxGwSpUq5fhzQECApkyZYmlBAAAAno6FRgEAACyW7RGs/Pnzy2az/WO/33///ZYKAgAA8HTZDljjxo1z/NkYo+eff17Dhg1TSEhITtQFAADgsbIdsKKjo522+/TpozZt2jjNyboVI0aMUExMjPr16+cU5gAAADzNHTEHa/v27Zo6daqqVKni7lIAAABumdsDVnJysp555hlNmzZN+fPnd3c5AAAAt8ztAat3795q0aKFGjdu/I99U1NTlZiY6PQCAAC402R7Dlb//v2dttPS0vT2228rKCjIqd2VxUbnzJmjXbt2afv27dnqP3z4cA0dOjTb5wcAAHCHbAes7777zmm7bt26+vXXX53asrOMw3XHjx9Xv379tGrVKvn6+mbrmJiYGKegl5iYqPDw8GxfEwAA4HbIdsBat26dpRfeuXOnzpw5o2rVqjna0tPTtXHjRk2cOFGpqany8vJyOsZut8tut1taBwAAgNWyHbDq16+vVq1aKSoqSmXKlLnlCz/66KPau3evU1vXrl1Vrlw5DRo0KFO4AgAA8BTZDljdu3fX4sWLNWTIEBUtWlRRUVGKiopS3bp1Xbo1eF2ePHlUqVIlp7aAgAAVKFAgUzsAAIAnyfZThNHR0Vq4cKHOnTun0aNH6+LFi2rXrp1CQ0PVrVs3ff7550pJScnJWgEAADyCy8s02O12NW/eXFOnTtXJkye1ePFihYWF6fXXX1eBAgX0+OOPa8uWLTdVzPr161nFHQAAeLxbXgerVq1aevvtt7V3717t3btXjz76qOLj462oDQAAwCNlew7WdcePH5fNZlPRokUlSdu2bdP//vc/VahQQT179tTLL79seZEAAACexOURrKefftqxZMOpU6fUuHFjbdu2Ta+99pqGDRtmeYEAAACexuWA9cMPP6hmzZqSpHnz5qly5craunWr4uLiNHPmTKvrAwAA8DguB6yrV686FvtcvXq1oqKiJEnlypVj7hUAAIBuImBVrFhRU6ZM0aZNm7Rq1So1bdpUknTy5EkVKFDA8gIBAAA8jcsBa+TIkZo6daoaNmyoDh06qGrVqpKkxYsXO24dAgAA3MtcfoqwYcOGOnfunBITE5U/f35He8+ePeXv729pcQAAAJ7optbBMsZo586dmjp1qpKSkiRJuXPnJmABAADoJkawjh49qqZNm+rYsWNKTU3VY489pjx58mjkyJFKTU3VlClTcqJOAAAAj+HyCFa/fv304IMP6sKFC/Lz83O0P/HEE1qzZo2lxQEAAHgil0ewNm3apK1btyp37txO7SVKlNCJEycsKwwAAMBTuTyClZGRofT09Eztv/32m/LkyWNJUQAAAJ7M5YDVpEkTjRs3zrFts9mUnJys2NhYNW/e3MraAAAAPJLLtwhHjx6tyMhIVahQQVeuXNHTTz+tgwcPqmDBgpo9e3ZO1AgAAOBRXA5YRYsW1Z49ezRnzhx9//33Sk5OVvfu3fXMM884TXoHAAC4V7kcsCTJ29tbHTt2tLoWAACAu8JNBayDBw9q3bp1OnPmjDIyMpz2vfHGG5YUBgAA4KlcDljTpk3T888/r4IFCyo0NFQ2m82xz2azEbAAAMA9z+WA9dZbb+ntt9/WoEGDcqIeAAAAj+fyMg0XLlxQu3btcqIWAACAu4LLAatdu3ZauXJlTtQCAABwV3D5FmFERIRef/11ffPNN6pcubJ8fHyc9vft29ey4gAAADyRywHrgw8+UGBgoDZs2KANGzY47bPZbAQsAABwz3M5YB0+fDgn6gAAALhruDwHCwAAADfm8ghWenq6Zs6cqTVr1mS50OjatWstKw4AAMATuRyw+vXrp5kzZ6pFixaqVKmS00KjAAAAuImANWfOHM2bN0/NmzfPiXoAAAA8nstzsHLnzq2IiIicqAUAAOCu4HLAGjBggMaPHy9jTE7UAwAA4PFcvkW4efNmrVu3TsuWLVPFihUzLTS6aNEiy4oDAADwRC4HrHz58umJJ57IiVoAAADuCi4HrI8++ign6gAAALhruBywrjt79qwOHDggSSpbtqwKFSpkWVEAAACezOVJ7pcuXVK3bt0UFham+vXrq379+ipSpIi6d++uy5cv50SNAAAAHsXlgNW/f39t2LBBX375pS5evKiLFy/qiy++0IYNGzRgwICcqBEAAMCjuHyLcOHChVqwYIEaNmzoaGvevLn8/PzUvn17TZ482cr6AAAAPI7LI1iXL19W4cKFM7WHhIRwixAAAEA3EbDq1Kmj2NhYXblyxdGWkpKioUOHqk6dOpYWBwAA4ImyfYvQy8tL8fHxGjdunJo2baqiRYuqatWqkqQ9e/bI19dXK1asyLFCAQAAPEW2A9b1X41TuXJlHTx4UHFxcdq/f78kqUOHDnrmmWfk5+eXM1UCAAB4kJtaB8vf3189evSwuhYAAIC7gksBa/r06QoMDLxhn759+95SQQAAAJ7OpYA1ZcoUeXl5/e1+m81GwAIAAPc8lwLWjh07FBISklO1AAAA3BWyvUyDzWbLyToAAADuGtkOWNefIgQAAMCNZTtgxcbG/uMEdwAAAGQzYB07dkyxsbHy9/fP1klPnDhxS0UBAAB4smwFrBo1aui5557T9u3b/7ZPQkKCpk2bpkqVKmnhwoWWFQgAAOBpsvUU4Y8//qi3335bjz32mHx9fVW9enUVKVJEvr6+unDhgn788Uft27dP1apV06hRo9S8efOcrhsAAOCOla0RrAIFCmjMmDGKj4/XxIkTVaZMGZ07d04HDx6UJD3zzDPauXOnvv76a8IVAAC457m0Dpafn5/atm2rtm3b5lQ9AAAAHi/bTxHmhMmTJ6tKlSrKmzev8ubNqzp16mjZsmXuLAkAAOCWuTVgFS1aVCNGjNDOnTu1Y8cOPfLII2rVqpX27dvnzrIAAABuiUu3CK3WsmVLp+23335bkydP1jfffKOKFSu6qSoAAIBb49aA9Wfp6emaP3++Ll26pDp16mTZJzU1VampqY7txMTE21UeAABAtrn1FqEk7d27V4GBgbLb7Xruuef02WefqUKFCln2HT58uIKCghyv8PDw21wtAADAP8vWCNbixYuzfcKoqCiXCihbtqx2796thIQELViwQNHR0dqwYUOWISsmJkb9+/d3bCcmJhKyAADAHSdbAat169ZO2zabzemXP9tsNsef09PTXSogd+7cioiIkCRVr15d27dv1/jx4zV16tRMfe12u+x2u0vnBwAAuN2ydYswIyPD8Vq5cqUeeOABLVu2TBcvXtTFixf11VdfqVq1alq+fPktF5SRkeE0zwoAAMDTuDzJ/aWXXtKUKVNUr149R1tkZKT8/f3Vs2dP/fTTT9k+V0xMjJo1a6ZixYopKSlJ//vf/7R+/XqtWLHC1bIAAADuGC4HrEOHDilfvnyZ2oOCgnTkyBGXznXmzBl17txZ8fHxCgoKUpUqVbRixQo99thjrpYFAABwx3A5YNWoUUP9+/fXrFmzVLhwYUnS6dOn9corr6hmzZounWvGjBmuXh4AAOCO5/IyDR9++KHi4+NVrFgxRUREKCIiQsWKFdOJEycITAAAALqJEayIiAh9//33WrVqlfbv3y9JKl++vBo3buz0NCEAAMC96qZWcrfZbGrSpImaNGlidT0AAAAeL1sB67333sv2Cfv27XvTxQAAANwNshWwxo4dm62T2Ww2AhYAALjnZStgHT58OKfrAAAAuGvc9C97TktL04EDB3Tt2jUr6wEAAPB4Lgesy5cvq3v37vL391fFihV17NgxSVKfPn00YsQIywsEAADwNC4HrJiYGO3Zs0fr16+Xr6+vo71x48aaO3eupcUBAAB4IpeXafj88881d+5c1a5d22ndq4oVK+rQoUOWFgcAAOCJXB7BOnv2rEJCQjK1X7p0iYVGAQAAdBMB68EHH9TSpUsd29dD1fTp01WnTh3rKgMAAPBQLt8ifOedd9SsWTP9+OOPunbtmsaPH68ff/xRW7du1YYNG3KiRgAAAI/i8ghWvXr1tHv3bl27dk2VK1fWypUrFRISoq+//lrVq1fPiRoBAAA8yk39LsLSpUtr2rRpVtcCAABwV8hWwEpMTFTevHkdf76R6/0AAADuVdkKWPnz51d8fLxCQkKUL1++LJ8WNMbIZrMpPT3d8iIBAAA8SbYC1tq1axUcHCxJWrduXY4WBAAA4OmyFbAaNGig9u3ba+rUqWrQoEFO1wQAAODRsv0U4W+//aaKFSs6rYEFAACAzLIdsLZs2aKXX35Z7dq107PPPqvk5OScrAsAAMBjZXuZBpvNpldeeUUtW7ZU165dVblyZfXp00fe3s6n6Nu3r+VFAgAAeBKX18EqV66cunfvrueee05jx451Clg2m42ABQAA7nkuBazTp0/r2Wef1ebNmzVjxgxFR0fnVF0AAAAeK9tzsObMmaOKFSsqJSVFe/bsIVwBAAD8jWwHrO7duys2NlarV69WsWLFcrImAAAAj5btW4S7d+9WmTJlcrIWAACAu0K2R7AIVwAAANmT7YAFAACA7CFgAQAAWIyABQAAYLGbClgXL17U9OnTFRMTo99//12StGvXLp04ccLS4gAAADyRyyu5f//992rcuLGCgoJ05MgR9ejRQ8HBwVq0aJGOHTumTz75JCfqBAAA8Bguj2D1799fXbp00cGDB+Xr6+tob968uTZu3GhpcQAAAJ7I5YC1fft29erVK1P7fffdp1OnTllSFAAAgCdzOWDZ7XYlJiZmav/5559VqFAhS4oCAADwZC4HrKioKA0bNkxXr16VJNlsNh07dkyDBg1SmzZtLC8QAADA07gcsEaPHq3k5GSFhIQoJSVFDRo0UEREhPLkyaO33347J2oEAADwKC4/RRgUFKRVq1Zp8+bN+v7775WcnKxq1aqpcePGOVEfAACAx3E5YF1Xr1491atXz8paAAAA7gouB6z33nsvy3abzSZfX19FRESofv368vLyuuXiAAAAPJHLAWvs2LE6e/asLl++rPz580uSLly4IH9/fwUGBurMmTMqVaqU1q1bp/DwcMsLBgAAuNO5PMn9nXfeUY0aNXTw4EGdP39e58+f188//6xatWpp/PjxOnbsmEJDQ/Xyyy/nRL0AAAB3PJdHsP7zn/9o4cKFKl26tKMtIiJC7777rtq0aaNff/1Vo0aNYskGAABwz3J5BCs+Pl7Xrl3L1H7t2jXHSu5FihRRUlLSrVcHAADggVwOWI0aNVKvXr303XffOdq+++47Pf/883rkkUckSXv37lXJkiWtqxIAAMCDuBywZsyYoeDgYFWvXl12u112u10PPviggoODNWPGDElSYGCgRo8ebXmxAAAAnsDlOVihoaFatWqV9u/fr59//lmSVLZsWZUtW9bRp1GjRtZVCAAA4GFueqHRcuXKqVy5clbWAgAAcFe4qYD122+/afHixTp27JjS0tKc9o0ZM8aSwgAAADyVywFrzZo1ioqKUqlSpbR//35VqlRJR44ckTFG1apVy4kaAQAAPIrLk9xjYmI0cOBA7d27V76+vlq4cKGOHz+uBg0aqF27djlRIwAAgEdxOWD99NNP6ty5syTJ29tbKSkpCgwM1LBhwzRy5EjLCwQAAPA0LgesgIAAx7yrsLAwHTp0yLHv3Llz1lUGAADgoVyeg1W7dm1t3rxZ5cuXV/PmzTVgwADt3btXixYtUu3atXOiRgAAAI/i8gjWmDFjVKtWLUnS0KFD9eijj2ru3LkqUaKEY6HR7Bo+fLhq1KihPHnyKCQkRK1bt9aBAwdcLQkAAOCO4tIIVnp6un777TdVqVJF0h+3C6dMmXLTF9+wYYN69+6tGjVq6Nq1axo8eLCaNGmiH3/8UQEBATd9XgAAAHdyKWB5eXmpSZMm+umnn5QvX75bvvjy5cudtmfOnKmQkBDt3LlT9evXz9Q/NTVVqampju3ExMRbrgEAAMBqLt8irFSpkn799decqEUJCQmSpODg4Cz3Dx8+XEFBQY5XeHh4jtQBAABwK1wOWG+99ZYGDhyoJUuWKD4+XomJiU6vm5WRkaGXXnpJDz30kCpVqpRln5iYGCUkJDhex48fv+nrAQAA5BSXnyJs3ry5JCkqKko2m83RboyRzWZTenr6TRXSu3dv/fDDD9q8efPf9rHb7bLb7Td1fgAAgNvF5YC1bt06y4t48cUXtWTJEm3cuFFFixa1/PwAAAC3k8sBq0GDBpZd3BijPn366LPPPtP69etVsmRJy84NAADgLi7PwZKkTZs2qWPHjqpbt65OnDghSZo1a9YNb+9lpXfv3vr000/1v//9T3ny5NGpU6d06tQppaSk3ExZAAAAdwSXA9bChQsVGRkpPz8/7dq1y7FsQkJCgt555x2XzjV58mQlJCSoYcOGCgsLc7zmzp3ralkAAAB3jJt6inDKlCmaNm2afHx8HO0PPfSQdu3a5dK5jDFZvrp06eJqWQAAAHcMlwPWgQMHslwENCgoSBcvXrSiJgAAAI/mcsAKDQ3VL7/8kql98+bNKlWqlCVFAQAAeDKXA1aPHj3Ur18/ffvtt7LZbDp58qTi4uI0cOBAPf/88zlRIwAAgEdxeZmGf//738rIyNCjjz6qy5cvq379+rLb7Ro4cKD69OmTEzUCAAB4FJcDls1m02uvvaZXXnlFv/zyi5KTk1WhQgUFBgbmRH0AAAAex+VbhJ9++qkuX76s3Llzq0KFCqpZsybhCgAA4E9cDlgvv/yyQkJC9PTTT+urr7666d89CAAAcLdyOWDFx8drzpw5stlsat++vcLCwtS7d29t3bo1J+oDAADwOC4HLG9vbz3++OOKi4vTmTNnNHbsWB05ckSNGjVS6dKlc6JGAAAAj+LyJPc/8/f3V2RkpC5cuKCjR4/qp59+sqouAAAAj3VTv+z58uXLiouLU/PmzXXfffdp3LhxeuKJJ7Rv3z6r6wMAAPA4Lo9gPfXUU1qyZIn8/f3Vvn17vf7666pTp05O1AYAAOCRXA5YXl5emjdvniIjI+Xl5eW074cfflClSpUsKw4AAMATuRyw4uLinLaTkpI0e/ZsTZ8+XTt37mTZBgAAcM+7qTlYkrRx40ZFR0crLCxM7777rh555BF98803VtYGAADgkVwawTp16pRmzpypGTNmKDExUe3bt1dqaqo+//xzVahQIadqBAAA8CjZHsFq2bKlypYtq++//17jxo3TyZMnNWHChJysDQAAwCNlewRr2bJl6tu3r55//nmVKVMmJ2sCAADwaNkewdq8ebOSkpJUvXp11apVSxMnTtS5c+dysjYAAACPlO2AVbt2bU2bNk3x8fHq1auX5syZoyJFiigjI0OrVq1SUlJSTtYJAADgMVx+ijAgIEDdunXT5s2btXfvXg0YMEAjRoxQSEiIoqKicqJGAAAAj3LTyzRIUtmyZTVq1Cj99ttvmj17tlU1AQAAeLRbCljXeXl5qXXr1lq8eLEVpwMAAPBolgQsAAAA/H8ELAAAAIsRsAAAACxGwAIAALAYAQsAAMBiBCwAAACLEbAAAAAsRsACAACwGAELAADAYgQsAAAAixGwAAAALEbAAgAAsBgBCwAAwGIELAAAAIsRsAAAACxGwAIAALAYAQsAAMBiBCwAAACLEbAAAAAsRsACAACwGAELAADAYgQsAAAAixGwAAAALEbAAgAAsBgBCwAAwGIELAAAAIsRsAAAACxGwAIAALAYAQsAAMBiBCwAAACLEbAAAAAs5taAtXHjRrVs2VJFihSRzWbT559/7s5yAAAALOHWgHXp0iVVrVpVkyZNcmcZAAAAlvJ258WbNWumZs2aubMEAAAAy7k1YLkqNTVVqampju3ExEQ3VgMAAJA1j5rkPnz4cAUFBTle4eHh7i4JAAAgE48KWDExMUpISHC8jh8/7u6SAAAAMvGoW4R2u112u93dZQAAANyQR41gAQAAeAK3jmAlJyfrl19+cWwfPnxYu3fvVnBwsIoVK+bGygAAAG6eWwPWjh071KhRI8d2//79JUnR0dGaOXOmm6oCAAC4NW4NWA0bNpQxxp0lAAAAWI45WAAAABYjYAEAAFiMgAUAAGAxAhYAAIDFCFgAAAAWI2ABAABYjIAFAABgMQIWAACAxQhYAAAAFiNgAQAAWIyABQAAYDECFgAAgMUIWAAAABYjYAEAAFiMgAUAAGAxAhYAAIDFCFgAAAAWI2ABAABYjIAFAABgMQIWAACAxQhYAAAAFiNgAQAAWIyABQAAYDECFgAAgMUIWAAAABYjYAEAAFiMgAUAAGAxAhYAAIDFCFgAAAAWI2ABAABYjIAFAABgMQIWAACAxQhYAAAAFiNgAQAAWIyABQAAYDECFgAAgMUIWAAAABYjYAEAAFiMgAUAAGAxAhYAAIDFCFgAAAAWI2ABAABYjIAFAABgMQIWAACAxQhYAAAAFiNgAQAAWIyABQAAYDECFgAAgMUIWAAAABYjYAEAAFiMgAUAAGAxAhYAAIDFCFgAAAAWI2ABAABY7I4IWJMmTVKJEiXk6+urWrVqadu2be4uCQAA4Ka5PWDNnTtX/fv3V2xsrHbt2qWqVasqMjJSZ86ccXdpAAAAN8XtAWvMmDHq0aOHunbtqgoVKmjKlCny9/fXhx9+6O7SAAAAboq3Oy+elpamnTt3KiYmxtGWK1cuNW7cWF9//XWm/qmpqUpNTXVsJyQkSJISExNzvlgLZaRedncJ9wxP+254Kr7Ttw/f6duD7/Tt4Ynf5+s1G2Nu2M+tAevcuXNKT09X4cKFndoLFy6s/fv3Z+o/fPhwDR06NFN7eHh4jtUIzxY0zt0VANbiO427iSd/n5OSkhQUFPS3+90asFwVExOj/v37O7YzMjL0+++/q0CBArLZbG6s7O6XmJio8PBwHT9+XHnz5nV3OcAt4fuMuw3f6dvHGKOkpCQVKVLkhv3cGrAKFiwoLy8vnT592qn99OnTCg0NzdTfbrfLbrc7teXLly8nS8Rf5M2bl7+8uGvwfcbdhu/07XGjkavr3DrJPXfu3KpevbrWrFnjaMvIyNCaNWtUp04dN1YGAABw89x+i7B///6Kjo7Wgw8+qJo1a2rcuHG6dOmSunbt6u7SAAAAborbA9aTTz6ps2fP6o033tCpU6f0wAMPaPny5ZkmvsO97Ha7YmNjM92iBTwR32fcbfhO33ls5p+eMwQAAIBL3L7QKAAAwN2GgAUAAGAxAhYAAIDFCFj3sIYNG+qll17KkXN36dJFrVu3dmwbY9SzZ08FBwfLZrNp9+7dOXJd4GZk5+9CiRIlNG7cuNtSD3Cr/vozOCs5+W8ACFh3taz+gi1YsEC+vr4aPXp0jl57/PjxmjlzpmN7+fLlmjlzppYsWaL4+HhVqlQpR6+Pe0eXLl1ks9lks9nk4+OjkiVL6tVXX9WVK1csvc727dvVs2dPS88J/NX69esd3+esXo0aNcrWef76Mxi3n9uXacDtM336dPXu3VtTpkxR165d9eWXX1p+jfT0dNlstkyr3B46dEhhYWGqW7eu5dcEmjZtqo8++khXr17Vzp07FR0dLZvNppEjR1p2jUKFCll2LuDv1K1bV/Hx8ZnaFy9erOeee04vvPBCts6TnZXGkbMYwbpHjBo1Sn369NGcOXOcFnHNyMjQq6++quDgYIWGhmrIkCFOx40ZM0aVK1dWQECAwsPD9cILLyg5Odmxf+bMmcqXL58WL16sChUqyG6369ixY06jZ126dFGfPn107Ngx2Ww2lShR4ja8Y9xL7Ha7QkNDFR4ertatW6tx48ZatWqVJOn8+fPq0KGD7rvvPvn7+6ty5cqaPXt2pnNcu3ZNL774ooKCglSwYEG9/vrr+vMqNtwixO2QO3duhYaGOr0uXLiggQMHavDgwWrXrp3S09PVvXt3lSxZUn5+fipbtqzGjx/vdJ6/3sG4dOmSOnfurMDAQIWFheX4XQwQsO4JgwYN0ptvvqklS5boiSeecNr38ccfKyAgQN9++61GjRqlYcOGOf5hkqRcuXLpvffe0759+/Txxx9r7dq1evXVV53OcfnyZY0cOVLTp0/Xvn37FBIS4rR//PjxGjZsmIoWLar4+Hht3749594s7nk//PCDtm7dqty5c0uSrly5ourVq2vp0qX64Ycf1LNnT3Xq1Enbtm1zOu7jjz+Wt7e3tm3bpvHjx2vMmDGaPn26O94C4HDx4kW1atVKDRs21Jtvvinpj/8xLlq0qObPn68ff/xRb7zxhgYPHqx58+b97XleeeUVbdiwQV988YVWrlyp9evXa9euXbfrbdybDO5a0dHRJnfu3EaSWbNmTab9DRo0MPXq1XNqq1Gjhhk0aNDfnnP+/PmmQIECju2PPvrISDK7d+/OdO1WrVo5tseOHWuKFy9+c28EuIHo6Gjj5eVlAgICjN1uN5JMrly5zIIFC/72mBYtWpgBAwY4ths0aGDKly9vMjIyHG2DBg0y5cuXd2wXL17cjB07NkfeA5CV9PR006xZM1O+fHmTmJh4w769e/c2bdq0cWz/+WdwUlKSyZ07t5k3b55j//nz542fn5/p169fTpQOYwxzsO5yVapU0blz5xQbG6uaNWsqMDAw0/4/CwsL05kzZxzbq1ev1vDhw7V//34lJibq2rVrunLlii5fvix/f39Jfwxp//U8wO3UqFEjTZ48WZcuXdLYsWPl7e2tNm3aSPpjXuA777yjefPm6cSJE0pLS1Nqaqrj+3td7dq1ZbPZHNt16tTR6NGjlZ6eLi8vr9v6fgBJGjx4sL7++mtt27ZNefLkcdo3adIkffjhhzp27JhSUlKUlpamBx54IMvzHDp0SGlpaapVq5ajLTg4WGXLls3J8u953CK8y913331av369Tpw4oaZNmyopKclpv4+Pj9O2zWZTRkaGJOnIkSN6/PHHVaVKFS1cuFA7d+7UpEmTJElpaWmOY/z8/Jz+YQJut4CAAEVERKhq1ar68MMP9e2332rGjBmSpP/+978aP368Bg0apHXr1mn37t2KjIx0+g4Dd5o5c+bo3Xff1Zw5c1SmTJlM+wYOHKju3btr5cqV2r17t7p27cp3+g5DwLoHFC9eXBs2bNCpU6eyDFl/Z+fOncrIyNDo0aNVu3Zt3X///Tp58mQOVwvcmly5cmnw4MH6z3/+o5SUFG3ZskWtWrVSx44dVbVqVZUqVUo///xzpuO+/fZbp+1vvvlGZcqUYfQKt93u3bvVvXt3jRgxQpGRkZn2b9myRXXr1tULL7ygf/3rX4qIiNChQ4f+9nylS5eWj4+P03f8woULWf49gHUIWPeI8PBwrV+/XmfOnFFkZKQSExP/8ZiIiAhdvXpVEyZM0K+//qpZs2ZpypQpt6Fa4Na0a9dOXl5emjRpksqUKaNVq1Zp69at+umnn9SrVy+dPn060zHHjh1T//79deDAAc2ePVsTJkxQv3793FA97mXnzp1T69at1bBhQ3Xs2FGnTp1yep09e1ZlypTRjh07tGLFCv388896/fXXb/jwUGBgoLp3765XXnlFa9eu1Q8//KAuXbooVy4iQE5iDtY9pGjRolq/fr0aNWqkyMhIpaam3rB/1apVNWbMGI0cOVIxMTGqX7++hg8frs6dO9+mioGb4+3trRdffFGjRo3Sd999p19//VWRkZHy9/dXz5491bp1ayUkJDgd07lzZ6WkpKhmzZry8vJSv379WFgUt93SpUt19OhRHT16VGFhYZn2Fy9eXAcOHNB3332nJ598UjabTR06dNALL7ygZcuW/e15//vf/yo5OVktW7ZUnjx5NGDAgEx/B2AtmzF/WugFAAAAt4zxQQAAAIsRsAAAACxGwAIAALAYAQsAAMBiBCwAAACLEbAAAAAsRsACAACwGAELAADAYgQsAAAAixGwANyxzp49q+eff17FihWT3W5XaGioIiMjtWXLFneXBgA3xO8iBHDHatOmjdLS0vTxxx+rVKlSOn36tNasWaPz58+7uzQAuCFGsADckS5evKhNmzZp5MiRatSokYoXL66aNWsqJiZGUVFRjj7PPvusChUqpLx58+qRRx7Rnj17HOc4dOiQWrVqpcKFCyswMFA1atTQ6tWrna7z/vvvq0yZMvL19VXhwoXVtm1bx77U1FT17dtXISEh8vX1Vb169bR9+3bH/vXr18tms2nNmjV68MEH5e/vr7p16+rAgQM5/OkAuNMRsADckQIDAxUYGKjPP/9cqampWfZp166dzpw5o2XLlmnnzp2qVq2aHn30Uf3++++SpOTkZDVv3lxr1qzRd999p6ZNm6ply5Y6duyYJGnHjh3q27evhg0bpgMHDmj58uWqX7++4/yvvvqqFi5cqI8//li7du1SRESEIiMjHee/7rXXXtPo0aO1Y8cOeXt7q1u3bjn0qQDwGAYA7lALFiww+fPnN76+vqZu3bomJibG7NmzxxhjzKZNm0zevHnNlStXnI4pXbq0mTp16t+es2LFimbChAnGGGMWLlxo8ubNaxITEzP1S05ONj4+PiYuLs7RlpaWZooUKWJGjRpljDFm3bp1RpJZvXq1o8/SpUuNJJOSknLzbxyAx2MEC8Adq02bNjp58qQWL16spk2bav369apWrZpmzpypPXv2KDk5WQUKFHCMdgUGBurw4cM6dOiQpD9GsAYOHKjy5csrX758CgwM1E8//eQYwXrsscdUvHhxlSpVSp06dVJcXJwuX74s6Y/bi1evXtVDDz3kqMfHx0c1a9bUTz/95FRnlSpVHH8OCwuTJJ05cyZHPxsAdzYmuQO4o/n6+uqxxx7TY489ptdff13PPvusYmNj9cILLygsLEzr16/PdEy+fPkkSQMHDtSqVav07rvvKiIiQn5+fmrbtq3S0tIkSXny5NGuXbu0fv16rVy5Um+88YaGDBniNM8qO3x8fBx/ttlskqSMjIybe8MA7gqMYAHwKBUqVNClS5dUrVo1nTp1St7e3oqIiHB6FSxYUJK0ZcsWdenSRU888YQqV66s0NBQHTlyxOl83t7eaty4sUaNGqXvv/9eR44c0dq1a1W6dGnlzp3baUmIq1evavv27apQocLtfMsAPBAjWADuSOfPn1e7du3UrVs3ValSRXny5NGOHTs0atQotWrVSo0bN1adOnXUunVrjRo1Svfff79OnjyppUuX6oknntCDDz6oMmXKaNGiRWrZsqVsNptef/11p5GlJUuW6Ndff1X9+vWVP39+ffXVV8rIyFDZsmUVEBCg559/Xq+88oqCg4NVrFgxjRo1SpcvX1b37t3d+MkA8AQELAB3pMDAQNWqVUtjx451zIcKDw9Xjx49NHjwYNlsNn311Vd67bXX1LVrV509e1ahoaGqX7++ChcuLEkaM2aMunXrprp166pgwYIaNGiQEhMTHdfIly+fFi1apCFDhujKlSsqU6aMZs+erYoVK0qSRowYoYyMDHXq1ElJSUl68MEHtWLFCuXPn98tnwkAz2Ezxhh3FwEAAHA3YQ4WAACAxQhYAAAAFiNgAQAAWIyABQAAYDECFgAAgMUIWAAAABYjYAEAAFiMgAUAAGAxAhYAAIDFCFgAAAAWI2ABAABY7P8Btm3yv344Ab4AAAAASUVORK5CYII="/>
          <p:cNvSpPr>
            <a:spLocks noChangeAspect="1" noChangeArrowheads="1"/>
          </p:cNvSpPr>
          <p:nvPr/>
        </p:nvSpPr>
        <p:spPr bwMode="auto">
          <a:xfrm flipH="1">
            <a:off x="460375" y="-144463"/>
            <a:ext cx="110465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data:image/png;base64,iVBORw0KGgoAAAANSUhEUgAAAlgAAAHWCAYAAACrNPfpAAAAOnRFWHRTb2Z0d2FyZQBNYXRwbG90bGliIHZlcnNpb24zLjEwLjAsIGh0dHBzOi8vbWF0cGxvdGxpYi5vcmcvlHJYcgAAAAlwSFlzAAAPYQAAD2EBqD+naQAAP6lJREFUeJzt3XmcjfX///HnMTPObAyDMSNjHdnpQ9ZkKRlLhr6WUhhLqIRC+Yw+NWixfLKFEEppPnaVyL4vlS2SIskWY41ZGDPMvH9/dHN+nWbSHK5xHB732+3cbq739b6u63VOx3j2vt7Xe2zGGCMAAABYJpe7CwAAALjbELAAAAAsRsACAACwGAELAADAYgQsAAAAixGwAAAALEbAAgAAsBgBCwAAwGIELAAAAIsRsAB4lJkzZ8pms+nIkSMuHztkyBDZbLZs9bXZbBoyZMgN+6xfv142m00LFixwuRYAdzcCFnCbvf/++7LZbKpVq5a7S7ljfP3118qVK5diYmKy3D9y5EjZbDYtXbr0Nld259i8ebOaNWum++67T76+vipWrJhatmyp//3vf+4uDUAWCFjAbRYXF6cSJUpo27Zt+uWXX9xdzh2hTp066tWrl0aPHq19+/Y57Tt69KiGDRumdu3aqUWLFurUqZNSUlJUvHhxN1V7+82fP1/169fX6dOn1a9fP02YMEEdO3bUhQsXNG3aNHeXByAL3u4uALiXHD58WFu3btWiRYvUq1cvxcXFKTY29rbWkJGRobS0NPn6+t7W6/6TESNG6IsvvlCvXr20adMmx628Pn36yMfHR+PHj5ckeXl5ycvLy52l3nZDhgxRhQoV9M033yh37txO+86cOeOmqgDcCCNYwG0UFxen/Pnzq0WLFmrbtq3i4uIc+65evarg4GB17do103GJiYny9fXVwIEDHW2pqamKjY1VRESE7Ha7wsPD9eqrryo1NdXpWJvNphdffFFxcXGqWLGi7Ha7li9fLkl69913VbduXRUoUEB+fn6qXr16lvOJUlJS1LdvXxUsWFB58uRRVFSUTpw4keU8pRMnTqhbt24qXLiw7Ha7KlasqA8//PAfP5ugoCCNHz9eW7Zs0fTp0yVJn332mb788kuNGDFCYWFhkv5+DtayZcv08MMPKyAgQHny5FGLFi0yjYZlJTU1VS+//LIKFSrkeG+//fbbPx73Z+np6Ro8eLBCQ0MVEBCgqKgoHT9+3LE/NjZWPj4+Onv2bKZje/bsqXz58unKlSt/e/5Dhw6pRo0amcKVJIWEhDhtZ2RkaNy4capYsaJ8fX1VuHBh9erVSxcuXHDq98UXX6hFixYqUqSI7Ha7SpcurTfffFPp6elO/Q4ePKg2bdooNDRUvr6+Klq0qJ566iklJCQ4+ly7dk1vvvmmSpcuLbvdrhIlSmjw4MGZvoslSpTQ448/rs2bN6tmzZry9fVVqVKl9Mknn/ztewc8lgFw25QrV850797dGGPMxo0bjSSzbds2x/5u3bqZfPnymdTUVKfjPv74YyPJbN++3RhjTHp6umnSpInx9/c3L730kpk6dap58cUXjbe3t2nVqpXTsZJM+fLlTaFChczQoUPNpEmTzHfffWeMMaZo0aLmhRdeMBMnTjRjxowxNWvWNJLMkiVLnM7Rvn17I8l06tTJTJo0ybRv395UrVrVSDKxsbGOfqdOnTJFixY14eHhZtiwYWby5MkmKirKSDJjx47N1mfUokULkz9/fnPo0CETHh5u6tatazIyMhz7P/roIyPJHD582NH2ySefGJvNZpo2bWomTJhgRo4caUqUKGHy5cvn1C82Ntb89cdex44djSTz9NNPm4kTJ5r/+7//M1WqVMn03rKybt06I8lUrlzZVKlSxYwZM8b8+9//Nr6+vub+++83ly9fNsYYc/DgQSPJTJgwwen41NRUkz9/ftOtW7cbXuf+++834eHh5vjx4zfsZ4wxzz77rPH29jY9evQwU6ZMMYMGDTIBAQGmRo0aJi0tzdGvdevWpn379ua///2vmTx5smnXrp2RZAYOHOhUX8mSJU2RIkXMW2+9ZaZPn26GDh1qatSoYY4cOeLoFx0dbSSZtm3bmkmTJpnOnTsbSaZ169ZOtRUvXtyULVvWFC5c2AwePNhMnDjRVKtWzdhsNvPDDz/843sDPAkBC7hNduzYYSSZVatWGWOMycjIMEWLFjX9+vVz9FmxYoWRZL788kunY5s3b25KlSrl2J41a5bJlSuX2bRpk1O/KVOmGElmy5YtjjZJJleuXGbfvn2ZaroeAK5LS0szlSpVMo888oijbefOnUaSeemll5z6dunSJVMI6d69uwkLCzPnzp1z6vvUU0+ZoKCgTNfLypEjR0xAQIAJDg42Pj4+Zu/evU77/xqwkpKSTL58+UyPHj2c+p06dcoEBQU5tf81YO3evdtIMi+88ILTsU8//bRLAeu+++4ziYmJjvZ58+YZSWb8+PGOtjp16phatWo5Hb9o0SIjyaxbt+6G15kxY4aRZHLnzm0aNWpkXn/9dbNp0yaTnp7u1G/Tpk1GkomLi3NqX758eab2rP5b9OrVy/j7+5srV64YY4z57rvvjCQzf/78v63t+mf47LPPOrUPHDjQSDJr1651tBUvXtxIMhs3bnS0nTlzxtjtdjNgwIAbfgaAp+EWIXCbxMXFqXDhwmrUqJGkP27dPfnkk5ozZ47jtswjjzyiggULau7cuY7jLly4oFWrVunJJ590tM2fP1/ly5dXuXLldO7cOcfrkUcekSStW7fO6doNGjRQhQoVMtXk5+fndJ2EhAQ9/PDD2rVrl6P9+u3EF154wenYPn36OG0bY7Rw4UK1bNlSxhinuiIjI5WQkOB03r9TvHhxxcbG6vfff1f//v1VqVKlG/ZftWqVLl68qA4dOjhd08vLS7Vq1cr0WfzZV199JUnq27evU/tLL730j3X+WefOnZUnTx7Hdtu2bRUWFuY4//U+3377rQ4dOuRoi4uLU3h4uBo0aHDD83fr1k3Lly9Xw4YNtXnzZr355pt6+OGHVaZMGW3dutXRb/78+QoKCtJjjz3m9FlUr15dgYGBTp/Fn//bJyUl6dy5c3r44Yd1+fJl7d+/X9Ift20lacWKFbp8+XKWtV1/j/3793dqHzBggCRlevKzQoUKevjhhx3bhQoVUtmyZfXrr7/e8DMAPA0BC7gN0tPTNWfOHDVq1EiHDx/WL7/8ol9++UW1atXS6dOntWbNGkmSt7e32rRpoy+++MIxf2XRokW6evWqU8A6ePCg9u3bp0KFCjm97r//fkmZJz6XLFkyy7qWLFmi2rVry9fXV8HBwSpUqJAmT57sNL/m6NGjypUrV6ZzREREOG2fPXtWFy9e1AcffJCpruvzyrI7IbtGjRqSpAcffPAf+x48eFDSH+H0r9dduXLlDa95/b2VLl3aqb1s2bLZqvO6MmXKOG3bbDZFREQ4zRN78sknZbfbHfPuEhIStGTJEj3zzDPZWpsrMjJSK1as0MWLF7Vx40b17t1bR48e1eOPP+54jwcPHlRCQoJCQkIyfRbJyclOn8W+ffv0xBNPKCgoSHnz5lWhQoXUsWNHR23SH9+b/v37a/r06SpYsKAiIyM1adKkLL8ff/0+hIaGKl++fDp69KhTe7FixTK9t/z582eaIwZ4Op4iBG6DtWvXKj4+XnPmzNGcOXMy7Y+Li1OTJk0kSU899ZSmTp2qZcuWqXXr1po3b57KlSunqlWrOvpnZGSocuXKGjNmTJbXCw8Pd9r+82jFdZs2bVJUVJTq16+v999/X2FhYfLx8dFHH310U2srZWRkSJI6duyo6OjoLPtUqVLF5fNm97qzZs1SaGhopv3e3nfGj7n8+fPr8ccfV1xcnN544w0tWLBAqampjlCTXf7+/nr44Yf18MMPq2DBgho6dKiWLVum6OhoZWRkKCQkxOnhiT8rVKiQJOnixYtq0KCB8ubNq2HDhql06dLy9fXVrl27NGjQIMdnKkmjR49Wly5d9MUXX2jlypXq27evhg8frm+++UZFixZ19MvuAq5/9wSoMSa7HwHgEe6MnzzAXS4uLk4hISGaNGlSpn2LFi3SZ599pilTpsjPz0/169dXWFiY5s6dq3r16mnt2rV67bXXnI4pXbq09uzZo0cffTTb/7D91cKFC+Xr66sVK1bIbrc72j/66COnfsWLF1dGRoYOHz7sNFLz1zW8rj+Fl56ersaNG99UTTfj+uhTSEiIy9e9/t4OHTrkNGp14MABl85zfRTtOmOMfvnll0yBsnPnzmrVqpW2b9+uuLg4/etf/1LFihVdutafXR/hi4+Pl/THZ7F69Wo99NBDWYbq69avX6/z589r0aJFql+/vqP98OHDWfavXLmyKleurP/85z/aunWrHnroIU2ZMkVvvfWW4zM8ePCgypcv7zjm9OnTunjx4j21XhnwZ9wiBHJYSkqKFi1apMcff1xt27bN9HrxxReVlJSkxYsXS5Jy5cqltm3b6ssvv9SsWbN07do1p9uDktS+fXudOHEiy0UmU1JSdOnSpX+sy8vLSzabzemx/CNHjujzzz936hcZGSnpjxXo/2zChAmZztemTRstXLhQP/zwQ6brZbVEgRUiIyOVN29evfPOO7p69apL123WrJkk6b333nNqHzdunEs1fPLJJ0pKSnJsL1iwQPHx8Y7z//l6BQsW1MiRI7Vhw4Zsj15dv4X8V9fnP10Ph+3bt1d6errefPPNTH2vXbumixcvSvr/o0h/HjVKS0vL9N84MTFR165dc2qrXLmycuXK5biF3bx5c0mZP7Pro6stWrT4x/cH3I0YwQJy2OLFi5WUlKSoqKgs99euXVuFChVSXFycI0g9+eSTmjBhgmJjY1W5cmWnkQFJ6tSpk+bNm6fnnntO69at00MPPaT09HTt379f8+bN04oVK/5x/lKLFi00ZswYNW3aVE8//bTOnDmjSZMmKSIiQt9//72jX/Xq1dWmTRuNGzdO58+fV+3atbVhwwb9/PPPkpxvDY0YMULr1q1TrVq11KNHD1WoUEG///67du3apdWrV+v333+/qc/wRvLmzavJkyerU6dOqlatmp566ikVKlRIx44d09KlS/XQQw9p4sSJWR77wAMPqEOHDnr//feVkJCgunXras2aNS6vsB8cHKx69eqpa9euOn36tMaNG6eIiAj16NHDqZ+Pj4+eeuopTZw4UV5eXurQoUO2zt+qVSuVLFlSLVu2VOnSpXXp0iWtXr1aX375pWrUqKGWLVtK+uNhhl69emn48OHavXu3mjRpIh8fHx08eFDz58/X+PHj1bZtW9WtW1f58+dXdHS0+vbtK5vNplmzZmW6Tbd27Vq9+OKLateune6//35du3ZNs2bNcoRpSapataqio6P1wQcfOG49btu2TR9//LFat27teKgDuOe48xFG4F7QsmVL4+vray5duvS3fbp06WJ8fHwcyxtkZGSY8PBwI8m89dZbWR6TlpZmRo4caSpWrGjsdrvJnz+/qV69uhk6dKhJSEhw9JNkevfuneU5ZsyYYcqUKWPsdrspV66c+eijj7JcK+rSpUumd+/eJjg42AQGBprWrVubAwcOGElmxIgRTn1Pnz5tevfubcLDw42Pj48JDQ01jz76qPnggw+y9XkZ8/+XP8hqeYCs1sG6fkxkZKQJCgoyvr6+pnTp0qZLly5mx44djj5ZvbeUlBTTt29fU6BAARMQEGBatmxpjh8/7tIyDbNnzzYxMTEmJCTE+Pn5mRYtWpijR49mecy2bduMJNOkSZPsfRjGmNmzZ5unnnrKlC5d2vj5+RlfX19ToUIF89prrzktD3HdBx98YKpXr278/PxMnjx5TOXKlc2rr75qTp486eizZcsWU7t2bePn52eKFCliXn31VccyIdeXjfj1119Nt27dTOnSpY2vr68JDg42jRo1MqtXr3a63tWrV83QoUNNyZIljY+PjwkPDzcxMTGO5R6uK168uGnRokWmehs0aGAaNGiQ7c8D8AQ2Y5hZCMB1u3fv1r/+9S99+umneuaZZ9xdjsfYs2ePHnjgAX3yySfq1KmTu8sBkEOYgwXgH6WkpGRqGzdunHLlyuU0SRr/bNq0aQoMDNT//d//ubsUADmIOVgA/tGoUaO0c+dONWrUSN7e3lq2bJmWLVumnj17ZloSAln78ssv9eOPP+qDDz7Qiy++qICAAHeXBCAHcYsQwD9atWqVhg4dqh9//FHJyckqVqyYOnXqpNdee+2OWWfqTleiRAmdPn1akZGRmjVrltPK7wDuPgQsAAAAizEHCwAAwGIELAAAAIt59OSJjIwMnTx5Unny5LnpXxcCAACQXcYYJSUlqUiRIsqV6+/HqTw6YJ08eZInmAAAwG13/Phxp194/lceHbCuP4Vz/Phx5c2b183VAACAu11iYqLCw8P/8Ulgjw5Y128L5s2bl4AFAABum3+amsQkdwAAAIsRsAAAACxGwAIAALAYAQsAAMBiBCwAAACLEbAAAAAsRsACAACwGAELAADAYgQsAAAAixGwAAAALEbAAgAAsBgBCwAAwGIELAAAAIsRsAAAACxGwAIAALCYt7sLuBeV+PdSd5dwzzgyooW7SwAA3IMYwQIAALAYAQsAAMBiBCwAAACLEbAAAAAsRsACAACwGAELAADAYgQsAAAAixGwAAAALEbAAgAAsBgBCwAAwGIELAAAAIsRsAAAACxGwAIAALAYAQsAAMBiBCwAAACLEbAAAAAsRsACAACwGAELAADAYgQsAAAAixGwAAAALEbAAgAAsBgBCwAAwGIELAAAAIsRsAAAACxGwAIAALAYAQsAAMBiBCwAAACLEbAAAAAsRsACAACwGAELAADAYgQsAAAAixGwAAAALEbAAgAAsBgBCwAAwGIELAAAAIsRsAAAACzm1oA1ZMgQ2Ww2p1e5cuXcWRIAAMAt83Z3ARUrVtTq1asd297ebi8JgItK/Hupu0u4ZxwZ0cLdJQDIBrenGW9vb4WGhrq7DAAAAMu4fQ7WwYMHVaRIEZUqVUrPPPOMjh079rd9U1NTlZiY6PQCAAC407g1YNWqVUszZ87U8uXLNXnyZB0+fFgPP/ywkpKSsuw/fPhwBQUFOV7h4eG3uWIAAIB/5taA1axZM7Vr105VqlRRZGSkvvrqK128eFHz5s3Lsn9MTIwSEhIcr+PHj9/migEAAP6Z2+dg/Vm+fPl0//3365dffslyv91ul91uv81VAQAAuMbtc7D+LDk5WYcOHVJYWJi7SwEAALhpbg1YAwcO1IYNG3TkyBFt3bpVTzzxhLy8vNShQwd3lgUAAHBL3HqL8LffflOHDh10/vx5FSpUSPXq1dM333yjQoUKubMsAACAW+LWgDVnzhx3Xh4AACBH3FFzsAAAAO4GBCwAAACLEbAAAAAsRsACAACwGAELAADAYgQsAAAAixGwAAAALEbAAgAAsBgBCwAAwGIELAAAAIsRsAAAACxGwAIAALAYAQsAAMBiBCwAAACLEbAAAAAsRsACAACwmLe7CwAA4E5T4t9L3V3CPeHIiBbuLiHHMIIFAABgMQIWAACAxQhYAAAAFiNgAQAAWIyABQAAYDECFgAAgMUIWAAAABYjYAEAAFiMgAUAAGAxAhYAAIDFCFgAAAAWI2ABAABYjIAFAABgMQIWAACAxQhYAAAAFiNgAQAAWIyABQAAYDECFgAAgMUIWAAAABYjYAEAAFjslgJWamqqVXUAAADcNVwKWMuWLVN0dLRKlSolHx8f+fv7K2/evGrQoIHefvttnTx5MqfqBAAA8BjZClifffaZ7r//fnXr1k3e3t4aNGiQFi1apBUrVmj69Olq0KCBVq9erVKlSum5557T2bNnc7puAACAO5Z3djqNGjVKY8eOVbNmzZQrV+ZM1r59e0nSiRMnNGHCBH366ad6+eWXra0UAADAQ2QrYH399dfZOtl9992nESNG3FJBAAAAno6nCAEAACyWrRGsv/rtt9+0ePFiHTt2TGlpaU77xowZY0lhAAAAnsrlgLVmzRpFRUWpVKlS2r9/vypVqqQjR47IGKNq1arlRI0AAAAexeVbhDExMRo4cKD27t0rX19fLVy4UMePH1eDBg3Url27nKgRAADAo7gcsH766Sd17txZkuTt7a2UlBQFBgZq2LBhGjlypOUFAgAAeBqXA1ZAQIBj3lVYWJgOHTrk2Hfu3DnrKgMAAPBQLs/Bql27tjZv3qzy5curefPmGjBggPbu3atFixapdu3aOVEjAACAR3E5YI0ZM0bJycmSpKFDhyo5OVlz585VmTJleIIQAABANxGwSpUq5fhzQECApkyZYmlBAAAAno6FRgEAACyW7RGs/Pnzy2az/WO/33///ZYKAgAA8HTZDljjxo1z/NkYo+eff17Dhg1TSEhITtQFAADgsbIdsKKjo522+/TpozZt2jjNyboVI0aMUExMjPr16+cU5gAAADzNHTEHa/v27Zo6daqqVKni7lIAAABumdsDVnJysp555hlNmzZN+fPnd3c5AAAAt8ztAat3795q0aKFGjdu/I99U1NTlZiY6PQCAAC402R7Dlb//v2dttPS0vT2228rKCjIqd2VxUbnzJmjXbt2afv27dnqP3z4cA0dOjTb5wcAAHCHbAes7777zmm7bt26+vXXX53asrOMw3XHjx9Xv379tGrVKvn6+mbrmJiYGKegl5iYqPDw8GxfEwAA4HbIdsBat26dpRfeuXOnzpw5o2rVqjna0tPTtXHjRk2cOFGpqany8vJyOsZut8tut1taBwAAgNWyHbDq16+vVq1aKSoqSmXKlLnlCz/66KPau3evU1vXrl1Vrlw5DRo0KFO4AgAA8BTZDljdu3fX4sWLNWTIEBUtWlRRUVGKiopS3bp1Xbo1eF2ePHlUqVIlp7aAgAAVKFAgUzsAAIAnyfZThNHR0Vq4cKHOnTun0aNH6+LFi2rXrp1CQ0PVrVs3ff7550pJScnJWgEAADyCy8s02O12NW/eXFOnTtXJkye1ePFihYWF6fXXX1eBAgX0+OOPa8uWLTdVzPr161nFHQAAeLxbXgerVq1aevvtt7V3717t3btXjz76qOLj462oDQAAwCNlew7WdcePH5fNZlPRokUlSdu2bdP//vc/VahQQT179tTLL79seZEAAACexOURrKefftqxZMOpU6fUuHFjbdu2Ta+99pqGDRtmeYEAAACexuWA9cMPP6hmzZqSpHnz5qly5craunWr4uLiNHPmTKvrAwAA8DguB6yrV686FvtcvXq1oqKiJEnlypVj7hUAAIBuImBVrFhRU6ZM0aZNm7Rq1So1bdpUknTy5EkVKFDA8gIBAAA8jcsBa+TIkZo6daoaNmyoDh06qGrVqpKkxYsXO24dAgAA3MtcfoqwYcOGOnfunBITE5U/f35He8+ePeXv729pcQAAAJ7optbBMsZo586dmjp1qpKSkiRJuXPnJmABAADoJkawjh49qqZNm+rYsWNKTU3VY489pjx58mjkyJFKTU3VlClTcqJOAAAAj+HyCFa/fv304IMP6sKFC/Lz83O0P/HEE1qzZo2lxQEAAHgil0ewNm3apK1btyp37txO7SVKlNCJEycsKwwAAMBTuTyClZGRofT09Eztv/32m/LkyWNJUQAAAJ7M5YDVpEkTjRs3zrFts9mUnJys2NhYNW/e3MraAAAAPJLLtwhHjx6tyMhIVahQQVeuXNHTTz+tgwcPqmDBgpo9e3ZO1AgAAOBRXA5YRYsW1Z49ezRnzhx9//33Sk5OVvfu3fXMM884TXoHAAC4V7kcsCTJ29tbHTt2tLoWAACAu8JNBayDBw9q3bp1OnPmjDIyMpz2vfHGG5YUBgAA4KlcDljTpk3T888/r4IFCyo0NFQ2m82xz2azEbAAAMA9z+WA9dZbb+ntt9/WoEGDcqIeAAAAj+fyMg0XLlxQu3btcqIWAACAu4LLAatdu3ZauXJlTtQCAABwV3D5FmFERIRef/11ffPNN6pcubJ8fHyc9vft29ey4gAAADyRywHrgw8+UGBgoDZs2KANGzY47bPZbAQsAABwz3M5YB0+fDgn6gAAALhruDwHCwAAADfm8ghWenq6Zs6cqTVr1mS50OjatWstKw4AAMATuRyw+vXrp5kzZ6pFixaqVKmS00KjAAAAuImANWfOHM2bN0/NmzfPiXoAAAA8nstzsHLnzq2IiIicqAUAAOCu4HLAGjBggMaPHy9jTE7UAwAA4PFcvkW4efNmrVu3TsuWLVPFihUzLTS6aNEiy4oDAADwRC4HrHz58umJJ57IiVoAAADuCi4HrI8++ign6gAAALhruBywrjt79qwOHDggSSpbtqwKFSpkWVEAAACezOVJ7pcuXVK3bt0UFham+vXrq379+ipSpIi6d++uy5cv50SNAAAAHsXlgNW/f39t2LBBX375pS5evKiLFy/qiy++0IYNGzRgwICcqBEAAMCjuHyLcOHChVqwYIEaNmzoaGvevLn8/PzUvn17TZ482cr6AAAAPI7LI1iXL19W4cKFM7WHhIRwixAAAEA3EbDq1Kmj2NhYXblyxdGWkpKioUOHqk6dOpYWBwAA4ImyfYvQy8tL8fHxGjdunJo2baqiRYuqatWqkqQ9e/bI19dXK1asyLFCAQAAPEW2A9b1X41TuXJlHTx4UHFxcdq/f78kqUOHDnrmmWfk5+eXM1UCAAB4kJtaB8vf3189evSwuhYAAIC7gksBa/r06QoMDLxhn759+95SQQAAAJ7OpYA1ZcoUeXl5/e1+m81GwAIAAPc8lwLWjh07FBISklO1AAAA3BWyvUyDzWbLyToAAADuGtkOWNefIgQAAMCNZTtgxcbG/uMEdwAAAGQzYB07dkyxsbHy9/fP1klPnDhxS0UBAAB4smwFrBo1aui5557T9u3b/7ZPQkKCpk2bpkqVKmnhwoWWFQgAAOBpsvUU4Y8//qi3335bjz32mHx9fVW9enUVKVJEvr6+unDhgn788Uft27dP1apV06hRo9S8efOcrhsAAOCOla0RrAIFCmjMmDGKj4/XxIkTVaZMGZ07d04HDx6UJD3zzDPauXOnvv76a8IVAAC457m0Dpafn5/atm2rtm3b5lQ9AAAAHi/bTxHmhMmTJ6tKlSrKmzev8ubNqzp16mjZsmXuLAkAAOCWuTVgFS1aVCNGjNDOnTu1Y8cOPfLII2rVqpX27dvnzrIAAABuiUu3CK3WsmVLp+23335bkydP1jfffKOKFSu6qSoAAIBb49aA9Wfp6emaP3++Ll26pDp16mTZJzU1VampqY7txMTE21UeAABAtrn1FqEk7d27V4GBgbLb7Xruuef02WefqUKFCln2HT58uIKCghyv8PDw21wtAADAP8vWCNbixYuzfcKoqCiXCihbtqx2796thIQELViwQNHR0dqwYUOWISsmJkb9+/d3bCcmJhKyAADAHSdbAat169ZO2zabzemXP9tsNsef09PTXSogd+7cioiIkCRVr15d27dv1/jx4zV16tRMfe12u+x2u0vnBwAAuN2ydYswIyPD8Vq5cqUeeOABLVu2TBcvXtTFixf11VdfqVq1alq+fPktF5SRkeE0zwoAAMDTuDzJ/aWXXtKUKVNUr149R1tkZKT8/f3Vs2dP/fTTT9k+V0xMjJo1a6ZixYopKSlJ//vf/7R+/XqtWLHC1bIAAADuGC4HrEOHDilfvnyZ2oOCgnTkyBGXznXmzBl17txZ8fHxCgoKUpUqVbRixQo99thjrpYFAABwx3A5YNWoUUP9+/fXrFmzVLhwYUnS6dOn9corr6hmzZounWvGjBmuXh4AAOCO5/IyDR9++KHi4+NVrFgxRUREKCIiQsWKFdOJEycITAAAALqJEayIiAh9//33WrVqlfbv3y9JKl++vBo3buz0NCEAAMC96qZWcrfZbGrSpImaNGlidT0AAAAeL1sB67333sv2Cfv27XvTxQAAANwNshWwxo4dm62T2Ww2AhYAALjnZStgHT58OKfrAAAAuGvc9C97TktL04EDB3Tt2jUr6wEAAPB4Lgesy5cvq3v37vL391fFihV17NgxSVKfPn00YsQIywsEAADwNC4HrJiYGO3Zs0fr16+Xr6+vo71x48aaO3eupcUBAAB4IpeXafj88881d+5c1a5d22ndq4oVK+rQoUOWFgcAAOCJXB7BOnv2rEJCQjK1X7p0iYVGAQAAdBMB68EHH9TSpUsd29dD1fTp01WnTh3rKgMAAPBQLt8ifOedd9SsWTP9+OOPunbtmsaPH68ff/xRW7du1YYNG3KiRgAAAI/i8ghWvXr1tHv3bl27dk2VK1fWypUrFRISoq+//lrVq1fPiRoBAAA8yk39LsLSpUtr2rRpVtcCAABwV8hWwEpMTFTevHkdf76R6/0AAADuVdkKWPnz51d8fLxCQkKUL1++LJ8WNMbIZrMpPT3d8iIBAAA8SbYC1tq1axUcHCxJWrduXY4WBAAA4OmyFbAaNGig9u3ba+rUqWrQoEFO1wQAAODRsv0U4W+//aaKFSs6rYEFAACAzLIdsLZs2aKXX35Z7dq107PPPqvk5OScrAsAAMBjZXuZBpvNpldeeUUtW7ZU165dVblyZfXp00fe3s6n6Nu3r+VFAgAAeBKX18EqV66cunfvrueee05jx451Clg2m42ABQAA7nkuBazTp0/r2Wef1ebNmzVjxgxFR0fnVF0AAAAeK9tzsObMmaOKFSsqJSVFe/bsIVwBAAD8jWwHrO7duys2NlarV69WsWLFcrImAAAAj5btW4S7d+9WmTJlcrIWAACAu0K2R7AIVwAAANmT7YAFAACA7CFgAQAAWIyABQAAYLGbClgXL17U9OnTFRMTo99//12StGvXLp04ccLS4gAAADyRyyu5f//992rcuLGCgoJ05MgR9ejRQ8HBwVq0aJGOHTumTz75JCfqBAAA8Bguj2D1799fXbp00cGDB+Xr6+tob968uTZu3GhpcQAAAJ7I5YC1fft29erVK1P7fffdp1OnTllSFAAAgCdzOWDZ7XYlJiZmav/5559VqFAhS4oCAADwZC4HrKioKA0bNkxXr16VJNlsNh07dkyDBg1SmzZtLC8QAADA07gcsEaPHq3k5GSFhIQoJSVFDRo0UEREhPLkyaO33347J2oEAADwKC4/RRgUFKRVq1Zp8+bN+v7775WcnKxq1aqpcePGOVEfAACAx3E5YF1Xr1491atXz8paAAAA7gouB6z33nsvy3abzSZfX19FRESofv368vLyuuXiAAAAPJHLAWvs2LE6e/asLl++rPz580uSLly4IH9/fwUGBurMmTMqVaqU1q1bp/DwcMsLBgAAuNO5PMn9nXfeUY0aNXTw4EGdP39e58+f188//6xatWpp/PjxOnbsmEJDQ/Xyyy/nRL0AAAB3PJdHsP7zn/9o4cKFKl26tKMtIiJC7777rtq0aaNff/1Vo0aNYskGAABwz3J5BCs+Pl7Xrl3L1H7t2jXHSu5FihRRUlLSrVcHAADggVwOWI0aNVKvXr303XffOdq+++47Pf/883rkkUckSXv37lXJkiWtqxIAAMCDuBywZsyYoeDgYFWvXl12u112u10PPviggoODNWPGDElSYGCgRo8ebXmxAAAAnsDlOVihoaFatWqV9u/fr59//lmSVLZsWZUtW9bRp1GjRtZVCAAA4GFueqHRcuXKqVy5clbWAgAAcFe4qYD122+/afHixTp27JjS0tKc9o0ZM8aSwgAAADyVywFrzZo1ioqKUqlSpbR//35VqlRJR44ckTFG1apVy4kaAQAAPIrLk9xjYmI0cOBA7d27V76+vlq4cKGOHz+uBg0aqF27djlRIwAAgEdxOWD99NNP6ty5syTJ29tbKSkpCgwM1LBhwzRy5EjLCwQAAPA0LgesgIAAx7yrsLAwHTp0yLHv3Llz1lUGAADgoVyeg1W7dm1t3rxZ5cuXV/PmzTVgwADt3btXixYtUu3atXOiRgAAAI/i8gjWmDFjVKtWLUnS0KFD9eijj2ru3LkqUaKEY6HR7Bo+fLhq1KihPHnyKCQkRK1bt9aBAwdcLQkAAOCO4tIIVnp6un777TdVqVJF0h+3C6dMmXLTF9+wYYN69+6tGjVq6Nq1axo8eLCaNGmiH3/8UQEBATd9XgAAAHdyKWB5eXmpSZMm+umnn5QvX75bvvjy5cudtmfOnKmQkBDt3LlT9evXz9Q/NTVVqampju3ExMRbrgEAAMBqLt8irFSpkn799decqEUJCQmSpODg4Cz3Dx8+XEFBQY5XeHh4jtQBAABwK1wOWG+99ZYGDhyoJUuWKD4+XomJiU6vm5WRkaGXXnpJDz30kCpVqpRln5iYGCUkJDhex48fv+nrAQAA5BSXnyJs3ry5JCkqKko2m83RboyRzWZTenr6TRXSu3dv/fDDD9q8efPf9rHb7bLb7Td1fgAAgNvF5YC1bt06y4t48cUXtWTJEm3cuFFFixa1/PwAAAC3k8sBq0GDBpZd3BijPn366LPPPtP69etVsmRJy84NAADgLi7PwZKkTZs2qWPHjqpbt65OnDghSZo1a9YNb+9lpXfv3vr000/1v//9T3ny5NGpU6d06tQppaSk3ExZAAAAdwSXA9bChQsVGRkpPz8/7dq1y7FsQkJCgt555x2XzjV58mQlJCSoYcOGCgsLc7zmzp3ralkAAAB3jJt6inDKlCmaNm2afHx8HO0PPfSQdu3a5dK5jDFZvrp06eJqWQAAAHcMlwPWgQMHslwENCgoSBcvXrSiJgAAAI/mcsAKDQ3VL7/8kql98+bNKlWqlCVFAQAAeDKXA1aPHj3Ur18/ffvtt7LZbDp58qTi4uI0cOBAPf/88zlRIwAAgEdxeZmGf//738rIyNCjjz6qy5cvq379+rLb7Ro4cKD69OmTEzUCAAB4FJcDls1m02uvvaZXXnlFv/zyi5KTk1WhQgUFBgbmRH0AAAAex+VbhJ9++qkuX76s3Llzq0KFCqpZsybhCgAA4E9cDlgvv/yyQkJC9PTTT+urr7666d89CAAAcLdyOWDFx8drzpw5stlsat++vcLCwtS7d29t3bo1J+oDAADwOC4HLG9vbz3++OOKi4vTmTNnNHbsWB05ckSNGjVS6dKlc6JGAAAAj+LyJPc/8/f3V2RkpC5cuKCjR4/qp59+sqouAAAAj3VTv+z58uXLiouLU/PmzXXfffdp3LhxeuKJJ7Rv3z6r6wMAAPA4Lo9gPfXUU1qyZIn8/f3Vvn17vf7666pTp05O1AYAAOCRXA5YXl5emjdvniIjI+Xl5eW074cfflClSpUsKw4AAMATuRyw4uLinLaTkpI0e/ZsTZ8+XTt37mTZBgAAcM+7qTlYkrRx40ZFR0crLCxM7777rh555BF98803VtYGAADgkVwawTp16pRmzpypGTNmKDExUe3bt1dqaqo+//xzVahQIadqBAAA8CjZHsFq2bKlypYtq++//17jxo3TyZMnNWHChJysDQAAwCNlewRr2bJl6tu3r55//nmVKVMmJ2sCAADwaNkewdq8ebOSkpJUvXp11apVSxMnTtS5c+dysjYAAACPlO2AVbt2bU2bNk3x8fHq1auX5syZoyJFiigjI0OrVq1SUlJSTtYJAADgMVx+ijAgIEDdunXT5s2btXfvXg0YMEAjRoxQSEiIoqKicqJGAAAAj3LTyzRIUtmyZTVq1Cj99ttvmj17tlU1AQAAeLRbCljXeXl5qXXr1lq8eLEVpwMAAPBolgQsAAAA/H8ELAAAAIsRsAAAACxGwAIAALAYAQsAAMBiBCwAAACLEbAAAAAsRsACAACwGAELAADAYgQsAAAAixGwAAAALEbAAgAAsBgBCwAAwGIELAAAAIsRsAAAACxGwAIAALAYAQsAAMBiBCwAAACLEbAAAAAsRsACAACwGAELAADAYgQsAAAAixGwAAAALEbAAgAAsBgBCwAAwGIELAAAAIsRsAAAACxGwAIAALAYAQsAAMBiBCwAAACLEbAAAAAs5taAtXHjRrVs2VJFihSRzWbT559/7s5yAAAALOHWgHXp0iVVrVpVkyZNcmcZAAAAlvJ258WbNWumZs2aubMEAAAAy7k1YLkqNTVVqampju3ExEQ3VgMAAJA1j5rkPnz4cAUFBTle4eHh7i4JAAAgE48KWDExMUpISHC8jh8/7u6SAAAAMvGoW4R2u112u93dZQAAANyQR41gAQAAeAK3jmAlJyfrl19+cWwfPnxYu3fvVnBwsIoVK+bGygAAAG6eWwPWjh071KhRI8d2//79JUnR0dGaOXOmm6oCAAC4NW4NWA0bNpQxxp0lAAAAWI45WAAAABYjYAEAAFiMgAUAAGAxAhYAAIDFCFgAAAAWI2ABAABYjIAFAABgMQIWAACAxQhYAAAAFiNgAQAAWIyABQAAYDECFgAAgMUIWAAAABYjYAEAAFiMgAUAAGAxAhYAAIDFCFgAAAAWI2ABAABYjIAFAABgMQIWAACAxQhYAAAAFiNgAQAAWIyABQAAYDECFgAAgMUIWAAAABYjYAEAAFiMgAUAAGAxAhYAAIDFCFgAAAAWI2ABAABYjIAFAABgMQIWAACAxQhYAAAAFiNgAQAAWIyABQAAYDECFgAAgMUIWAAAABYjYAEAAFiMgAUAAGAxAhYAAIDFCFgAAAAWI2ABAABYjIAFAABgMQIWAACAxQhYAAAAFiNgAQAAWIyABQAAYDECFgAAgMUIWAAAABYjYAEAAFiMgAUAAGAxAhYAAIDFCFgAAAAWI2ABAABY7I4IWJMmTVKJEiXk6+urWrVqadu2be4uCQAA4Ka5PWDNnTtX/fv3V2xsrHbt2qWqVasqMjJSZ86ccXdpAAAAN8XtAWvMmDHq0aOHunbtqgoVKmjKlCny9/fXhx9+6O7SAAAAboq3Oy+elpamnTt3KiYmxtGWK1cuNW7cWF9//XWm/qmpqUpNTXVsJyQkSJISExNzvlgLZaRedncJ9wxP+254Kr7Ttw/f6duD7/Tt4Ynf5+s1G2Nu2M+tAevcuXNKT09X4cKFndoLFy6s/fv3Z+o/fPhwDR06NFN7eHh4jtUIzxY0zt0VANbiO427iSd/n5OSkhQUFPS3+90asFwVExOj/v37O7YzMjL0+++/q0CBArLZbG6s7O6XmJio8PBwHT9+XHnz5nV3OcAt4fuMuw3f6dvHGKOkpCQVKVLkhv3cGrAKFiwoLy8vnT592qn99OnTCg0NzdTfbrfLbrc7teXLly8nS8Rf5M2bl7+8uGvwfcbdhu/07XGjkavr3DrJPXfu3KpevbrWrFnjaMvIyNCaNWtUp04dN1YGAABw89x+i7B///6Kjo7Wgw8+qJo1a2rcuHG6dOmSunbt6u7SAAAAborbA9aTTz6ps2fP6o033tCpU6f0wAMPaPny5ZkmvsO97Ha7YmNjM92iBTwR32fcbfhO33ls5p+eMwQAAIBL3L7QKAAAwN2GgAUAAGAxAhYAAIDFCFj3sIYNG+qll17KkXN36dJFrVu3dmwbY9SzZ08FBwfLZrNp9+7dOXJd4GZk5+9CiRIlNG7cuNtSD3Cr/vozOCs5+W8ACFh3taz+gi1YsEC+vr4aPXp0jl57/PjxmjlzpmN7+fLlmjlzppYsWaL4+HhVqlQpR6+Pe0eXLl1ks9lks9nk4+OjkiVL6tVXX9WVK1csvc727dvVs2dPS88J/NX69esd3+esXo0aNcrWef76Mxi3n9uXacDtM336dPXu3VtTpkxR165d9eWXX1p+jfT0dNlstkyr3B46dEhhYWGqW7eu5dcEmjZtqo8++khXr17Vzp07FR0dLZvNppEjR1p2jUKFCll2LuDv1K1bV/Hx8ZnaFy9erOeee04vvPBCts6TnZXGkbMYwbpHjBo1Sn369NGcOXOcFnHNyMjQq6++quDgYIWGhmrIkCFOx40ZM0aVK1dWQECAwsPD9cILLyg5Odmxf+bMmcqXL58WL16sChUqyG6369ixY06jZ126dFGfPn107Ngx2Ww2lShR4ja8Y9xL7Ha7QkNDFR4ertatW6tx48ZatWqVJOn8+fPq0KGD7rvvPvn7+6ty5cqaPXt2pnNcu3ZNL774ooKCglSwYEG9/vrr+vMqNtwixO2QO3duhYaGOr0uXLiggQMHavDgwWrXrp3S09PVvXt3lSxZUn5+fipbtqzGjx/vdJ6/3sG4dOmSOnfurMDAQIWFheX4XQwQsO4JgwYN0ptvvqklS5boiSeecNr38ccfKyAgQN9++61GjRqlYcOGOf5hkqRcuXLpvffe0759+/Txxx9r7dq1evXVV53OcfnyZY0cOVLTp0/Xvn37FBIS4rR//PjxGjZsmIoWLar4+Hht3749594s7nk//PCDtm7dqty5c0uSrly5ourVq2vp0qX64Ycf1LNnT3Xq1Enbtm1zOu7jjz+Wt7e3tm3bpvHjx2vMmDGaPn26O94C4HDx4kW1atVKDRs21Jtvvinpj/8xLlq0qObPn68ff/xRb7zxhgYPHqx58+b97XleeeUVbdiwQV988YVWrlyp9evXa9euXbfrbdybDO5a0dHRJnfu3EaSWbNmTab9DRo0MPXq1XNqq1Gjhhk0aNDfnnP+/PmmQIECju2PPvrISDK7d+/OdO1WrVo5tseOHWuKFy9+c28EuIHo6Gjj5eVlAgICjN1uN5JMrly5zIIFC/72mBYtWpgBAwY4ths0aGDKly9vMjIyHG2DBg0y5cuXd2wXL17cjB07NkfeA5CV9PR006xZM1O+fHmTmJh4w769e/c2bdq0cWz/+WdwUlKSyZ07t5k3b55j//nz542fn5/p169fTpQOYwxzsO5yVapU0blz5xQbG6uaNWsqMDAw0/4/CwsL05kzZxzbq1ev1vDhw7V//34lJibq2rVrunLlii5fvix/f39Jfwxp//U8wO3UqFEjTZ48WZcuXdLYsWPl7e2tNm3aSPpjXuA777yjefPm6cSJE0pLS1Nqaqrj+3td7dq1ZbPZHNt16tTR6NGjlZ6eLi8vr9v6fgBJGjx4sL7++mtt27ZNefLkcdo3adIkffjhhzp27JhSUlKUlpamBx54IMvzHDp0SGlpaapVq5ajLTg4WGXLls3J8u953CK8y913331av369Tpw4oaZNmyopKclpv4+Pj9O2zWZTRkaGJOnIkSN6/PHHVaVKFS1cuFA7d+7UpEmTJElpaWmOY/z8/Jz+YQJut4CAAEVERKhq1ar68MMP9e2332rGjBmSpP/+978aP368Bg0apHXr1mn37t2KjIx0+g4Dd5o5c+bo3Xff1Zw5c1SmTJlM+wYOHKju3btr5cqV2r17t7p27cp3+g5DwLoHFC9eXBs2bNCpU6eyDFl/Z+fOncrIyNDo0aNVu3Zt3X///Tp58mQOVwvcmly5cmnw4MH6z3/+o5SUFG3ZskWtWrVSx44dVbVqVZUqVUo///xzpuO+/fZbp+1vvvlGZcqUYfQKt93u3bvVvXt3jRgxQpGRkZn2b9myRXXr1tULL7ygf/3rX4qIiNChQ4f+9nylS5eWj4+P03f8woULWf49gHUIWPeI8PBwrV+/XmfOnFFkZKQSExP/8ZiIiAhdvXpVEyZM0K+//qpZs2ZpypQpt6Fa4Na0a9dOXl5emjRpksqUKaNVq1Zp69at+umnn9SrVy+dPn060zHHjh1T//79deDAAc2ePVsTJkxQv3793FA97mXnzp1T69at1bBhQ3Xs2FGnTp1yep09e1ZlypTRjh07tGLFCv388896/fXXb/jwUGBgoLp3765XXnlFa9eu1Q8//KAuXbooVy4iQE5iDtY9pGjRolq/fr0aNWqkyMhIpaam3rB/1apVNWbMGI0cOVIxMTGqX7++hg8frs6dO9+mioGb4+3trRdffFGjRo3Sd999p19//VWRkZHy9/dXz5491bp1ayUkJDgd07lzZ6WkpKhmzZry8vJSv379WFgUt93SpUt19OhRHT16VGFhYZn2Fy9eXAcOHNB3332nJ598UjabTR06dNALL7ygZcuW/e15//vf/yo5OVktW7ZUnjx5NGDAgEx/B2AtmzF/WugFAAAAt4zxQQAAAIsRsAAAACxGwAIAALAYAQsAAMBiBCwAAACLEbAAAAAsRsACAACwGAELAADAYgQsAAAAixGwANyxzp49q+eff17FihWT3W5XaGioIiMjtWXLFneXBgA3xO8iBHDHatOmjdLS0vTxxx+rVKlSOn36tNasWaPz58+7uzQAuCFGsADckS5evKhNmzZp5MiRatSokYoXL66aNWsqJiZGUVFRjj7PPvusChUqpLx58+qRRx7Rnj17HOc4dOiQWrVqpcKFCyswMFA1atTQ6tWrna7z/vvvq0yZMvL19VXhwoXVtm1bx77U1FT17dtXISEh8vX1Vb169bR9+3bH/vXr18tms2nNmjV68MEH5e/vr7p16+rAgQM5/OkAuNMRsADckQIDAxUYGKjPP/9cqampWfZp166dzpw5o2XLlmnnzp2qVq2aHn30Uf3++++SpOTkZDVv3lxr1qzRd999p6ZNm6ply5Y6duyYJGnHjh3q27evhg0bpgMHDmj58uWqX7++4/yvvvqqFi5cqI8//li7du1SRESEIiMjHee/7rXXXtPo0aO1Y8cOeXt7q1u3bjn0qQDwGAYA7lALFiww+fPnN76+vqZu3bomJibG7NmzxxhjzKZNm0zevHnNlStXnI4pXbq0mTp16t+es2LFimbChAnGGGMWLlxo8ubNaxITEzP1S05ONj4+PiYuLs7RlpaWZooUKWJGjRpljDFm3bp1RpJZvXq1o8/SpUuNJJOSknLzbxyAx2MEC8Adq02bNjp58qQWL16spk2bav369apWrZpmzpypPXv2KDk5WQUKFHCMdgUGBurw4cM6dOiQpD9GsAYOHKjy5csrX758CgwM1E8//eQYwXrsscdUvHhxlSpVSp06dVJcXJwuX74s6Y/bi1evXtVDDz3kqMfHx0c1a9bUTz/95FRnlSpVHH8OCwuTJJ05cyZHPxsAdzYmuQO4o/n6+uqxxx7TY489ptdff13PPvusYmNj9cILLygsLEzr16/PdEy+fPkkSQMHDtSqVav07rvvKiIiQn5+fmrbtq3S0tIkSXny5NGuXbu0fv16rVy5Um+88YaGDBniNM8qO3x8fBx/ttlskqSMjIybe8MA7gqMYAHwKBUqVNClS5dUrVo1nTp1St7e3oqIiHB6FSxYUJK0ZcsWdenSRU888YQqV66s0NBQHTlyxOl83t7eaty4sUaNGqXvv/9eR44c0dq1a1W6dGnlzp3baUmIq1evavv27apQocLtfMsAPBAjWADuSOfPn1e7du3UrVs3ValSRXny5NGOHTs0atQotWrVSo0bN1adOnXUunVrjRo1Svfff79OnjyppUuX6oknntCDDz6oMmXKaNGiRWrZsqVsNptef/11p5GlJUuW6Ndff1X9+vWVP39+ffXVV8rIyFDZsmUVEBCg559/Xq+88oqCg4NVrFgxjRo1SpcvX1b37t3d+MkA8AQELAB3pMDAQNWqVUtjx451zIcKDw9Xjx49NHjwYNlsNn311Vd67bXX1LVrV509e1ahoaGqX7++ChcuLEkaM2aMunXrprp166pgwYIaNGiQEhMTHdfIly+fFi1apCFDhujKlSsqU6aMZs+erYoVK0qSRowYoYyMDHXq1ElJSUl68MEHtWLFCuXPn98tnwkAz2Ezxhh3FwEAAHA3YQ4WAACAxQhYAAAAFiNgAQAAWIyABQAAYDECFgAAgMUIWAAAABYjYAEAAFiMgAUAAGAxAhYAAIDFCFgAAAAWI2ABAABY7P8Btm3yv344Ab4AAAAASUVORK5CYII="/>
          <p:cNvSpPr>
            <a:spLocks noChangeAspect="1" noChangeArrowheads="1"/>
          </p:cNvSpPr>
          <p:nvPr/>
        </p:nvSpPr>
        <p:spPr bwMode="auto">
          <a:xfrm>
            <a:off x="2265729" y="43916"/>
            <a:ext cx="3422894" cy="342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75" y="636307"/>
            <a:ext cx="3888075" cy="3045659"/>
          </a:xfrm>
          <a:prstGeom prst="rect">
            <a:avLst/>
          </a:prstGeom>
        </p:spPr>
      </p:pic>
      <p:sp>
        <p:nvSpPr>
          <p:cNvPr id="10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2579958" y="1459555"/>
            <a:ext cx="292900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Kharif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5.63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/ha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Rabi: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5.04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/ha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Zaid: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4.64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/ha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69" y="2445985"/>
            <a:ext cx="5177206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 err="1"/>
              <a:t>Kharif</a:t>
            </a:r>
            <a:r>
              <a:rPr lang="en-US" sz="1200" dirty="0"/>
              <a:t> Season Performs </a:t>
            </a:r>
            <a:r>
              <a:rPr lang="en-US" sz="1200" dirty="0" err="1"/>
              <a:t>BestKharif</a:t>
            </a:r>
            <a:r>
              <a:rPr lang="en-US" sz="1200" dirty="0"/>
              <a:t> recorded the highest average yield of 5.63 </a:t>
            </a:r>
            <a:r>
              <a:rPr lang="en-US" sz="1200" dirty="0" err="1"/>
              <a:t>tonnes</a:t>
            </a:r>
            <a:r>
              <a:rPr lang="en-US" sz="1200" dirty="0"/>
              <a:t>/ha and the highest average profit of ₹178,914.65.🌧</a:t>
            </a:r>
            <a:r>
              <a:rPr lang="en-US" sz="1200" dirty="0" smtClean="0"/>
              <a:t>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Rainfall &amp; Soil Moisture </a:t>
            </a:r>
            <a:r>
              <a:rPr lang="en-US" sz="1200" dirty="0" err="1"/>
              <a:t>MatterKharif</a:t>
            </a:r>
            <a:r>
              <a:rPr lang="en-US" sz="1200" dirty="0"/>
              <a:t> had the highest average rainfall (849.20 mm) and soil moisture (31.15%), supporting better crop performance</a:t>
            </a:r>
            <a:r>
              <a:rPr lang="en-US" sz="1200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Rabi Shows Moderate </a:t>
            </a:r>
            <a:r>
              <a:rPr lang="en-US" sz="1200" dirty="0" err="1"/>
              <a:t>PerformanceRabi</a:t>
            </a:r>
            <a:r>
              <a:rPr lang="en-US" sz="1200" dirty="0"/>
              <a:t> achieved an average yield of 5.04 </a:t>
            </a:r>
            <a:r>
              <a:rPr lang="en-US" sz="1200" dirty="0" err="1"/>
              <a:t>tonnes</a:t>
            </a:r>
            <a:r>
              <a:rPr lang="en-US" sz="1200" dirty="0"/>
              <a:t>/ha with an average profit of ₹</a:t>
            </a:r>
            <a:r>
              <a:rPr lang="en-US" sz="1200" dirty="0" smtClean="0"/>
              <a:t>87,689.47.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Zaid </a:t>
            </a:r>
            <a:r>
              <a:rPr lang="en-US" sz="1200" dirty="0"/>
              <a:t>Shows Weak </a:t>
            </a:r>
            <a:r>
              <a:rPr lang="en-US" sz="1200" dirty="0" err="1"/>
              <a:t>PerformanceZaid</a:t>
            </a:r>
            <a:r>
              <a:rPr lang="en-US" sz="1200" dirty="0"/>
              <a:t> had the lowest average yield (4.64 </a:t>
            </a:r>
            <a:r>
              <a:rPr lang="en-US" sz="1200" dirty="0" err="1"/>
              <a:t>tonnes</a:t>
            </a:r>
            <a:r>
              <a:rPr lang="en-US" sz="1200" dirty="0"/>
              <a:t>/ha) and recorded an average loss of ₹</a:t>
            </a:r>
            <a:r>
              <a:rPr lang="en-US" sz="1200" dirty="0" smtClean="0"/>
              <a:t>24,804.82.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High </a:t>
            </a:r>
            <a:r>
              <a:rPr lang="en-US" sz="1200" dirty="0"/>
              <a:t>Water Usage in </a:t>
            </a:r>
            <a:r>
              <a:rPr lang="en-US" sz="1200" dirty="0" err="1"/>
              <a:t>ZaidZaid</a:t>
            </a:r>
            <a:r>
              <a:rPr lang="en-US" sz="1200" dirty="0"/>
              <a:t> used the highest average water (6,419.89 m³) despite having the lowest yield</a:t>
            </a:r>
            <a:r>
              <a:rPr lang="en-US" sz="1200" dirty="0" smtClean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Zaid </a:t>
            </a:r>
            <a:r>
              <a:rPr lang="en-US" sz="1200" dirty="0"/>
              <a:t>Has Higher Temperature </a:t>
            </a:r>
            <a:r>
              <a:rPr lang="en-US" sz="1200" dirty="0" err="1"/>
              <a:t>StressZaid</a:t>
            </a:r>
            <a:r>
              <a:rPr lang="en-US" sz="1200" dirty="0"/>
              <a:t> recorded the highest average temperature of 31.04°C, along with lower rainfall and soil moisture.🐛 Higher Disease/Pest Risk in </a:t>
            </a:r>
            <a:r>
              <a:rPr lang="en-US" sz="1200" dirty="0" err="1"/>
              <a:t>KharifKharif</a:t>
            </a:r>
            <a:r>
              <a:rPr lang="en-US" sz="1200" dirty="0"/>
              <a:t> recorded an average disease/pest risk of 54.47</a:t>
            </a:r>
            <a:r>
              <a:rPr lang="en-US" sz="1200" dirty="0" smtClean="0"/>
              <a:t>%.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/>
              <a:t>Seasonal </a:t>
            </a:r>
            <a:r>
              <a:rPr lang="en-US" sz="1200" dirty="0"/>
              <a:t>Conditions Influence </a:t>
            </a:r>
            <a:r>
              <a:rPr lang="en-US" sz="1200" dirty="0" err="1"/>
              <a:t>ProfitabilityDifferences</a:t>
            </a:r>
            <a:r>
              <a:rPr lang="en-US" sz="1200" dirty="0"/>
              <a:t> in environmental conditions, farming practices, yield and costs contribute to significant differences in seasonal profitability.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2"/>
            <a:ext cx="8565436" cy="446794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64" y="1472601"/>
            <a:ext cx="5308470" cy="341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5957" y="2311534"/>
            <a:ext cx="10060767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Integration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live weather, rainfall, soil, and market-price data for real-time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Crop Yield Prediction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Random Forest with other machine learning and deep learning models to improve prediction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Regional-Level Analysis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the analysis to provide more detailed insights for specific states, districts, and farming regions.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Irrigation Recommendations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rainfall, soil moisture, and water usage data to suggest efficient irrigation strategies.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Selection Support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recommendation system to identify suitable crops based on seasonal and environmental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user-friendly dashboard where farmers and agricultural planners can explore seasonal performance and predictions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2497325"/>
            <a:ext cx="7232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github.com/subi237/seasonal-agriculture-performance-analysis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58" y="1608410"/>
            <a:ext cx="6863142" cy="483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16c05727-aa75-4e4a-9b5f-8a80a1165891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1398</TotalTime>
  <Words>665</Words>
  <Application>Microsoft Office PowerPoint</Application>
  <PresentationFormat>Widescreen</PresentationFormat>
  <Paragraphs>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Project Title –SEASONAL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SUBIKSHA</cp:lastModifiedBy>
  <cp:revision>103</cp:revision>
  <dcterms:created xsi:type="dcterms:W3CDTF">2021-07-11T13:13:15Z</dcterms:created>
  <dcterms:modified xsi:type="dcterms:W3CDTF">2026-09-09T16:47:27Z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